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17bde1de024384" /><Relationship Type="http://schemas.openxmlformats.org/officeDocument/2006/relationships/extended-properties" Target="/docProps/app.xml" Id="R065886e84d3e435a" /><Relationship Type="http://schemas.openxmlformats.org/officeDocument/2006/relationships/officeDocument" Target="/ppt/presentation.xml" Id="Rb41723a901564d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2038153b144144"/>
  </p:sldMasterIdLst>
  <p:notesMasterIdLst>
    <p:notesMasterId xmlns:r="http://schemas.openxmlformats.org/officeDocument/2006/relationships" r:id="R7ecb44e2c800457d"/>
  </p:notesMasterIdLst>
  <p:sldIdLst>
    <p:sldId xmlns:r="http://schemas.openxmlformats.org/officeDocument/2006/relationships" id="256" r:id="Ra3019f8a67874f42"/>
    <p:sldId xmlns:r="http://schemas.openxmlformats.org/officeDocument/2006/relationships" id="257" r:id="R110c93aa8aa443ee"/>
    <p:sldId xmlns:r="http://schemas.openxmlformats.org/officeDocument/2006/relationships" id="258" r:id="Rb2754fcfa0984cb7"/>
    <p:sldId xmlns:r="http://schemas.openxmlformats.org/officeDocument/2006/relationships" id="259" r:id="Rd2e7c802650a4d13"/>
    <p:sldId xmlns:r="http://schemas.openxmlformats.org/officeDocument/2006/relationships" id="260" r:id="R45c6e6ddd4d14992"/>
    <p:sldId xmlns:r="http://schemas.openxmlformats.org/officeDocument/2006/relationships" id="261" r:id="Rcdd301da9e584127"/>
    <p:sldId xmlns:r="http://schemas.openxmlformats.org/officeDocument/2006/relationships" id="262" r:id="R0bce264d0d144ab5"/>
    <p:sldId xmlns:r="http://schemas.openxmlformats.org/officeDocument/2006/relationships" id="263" r:id="R6cf1ae34484c46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c569782d694185" /><Relationship Type="http://schemas.openxmlformats.org/officeDocument/2006/relationships/slideMaster" Target="/ppt/slideMasters/slideMaster1.xml" Id="Rcf2038153b144144" /><Relationship Type="http://schemas.openxmlformats.org/officeDocument/2006/relationships/notesMaster" Target="/ppt/notesMasters/notesMaster1.xml" Id="R7ecb44e2c800457d" /><Relationship Type="http://schemas.openxmlformats.org/officeDocument/2006/relationships/presProps" Target="/ppt/presProps.xml" Id="R254d58b0a2504042" /><Relationship Type="http://schemas.openxmlformats.org/officeDocument/2006/relationships/tableStyles" Target="/ppt/tableStyles.xml" Id="R9e5563a24b574a11" /><Relationship Type="http://schemas.openxmlformats.org/officeDocument/2006/relationships/slide" Target="/ppt/slides/slide1.xml" Id="Ra3019f8a67874f42" /><Relationship Type="http://schemas.openxmlformats.org/officeDocument/2006/relationships/slide" Target="/ppt/slides/slide2.xml" Id="R110c93aa8aa443ee" /><Relationship Type="http://schemas.openxmlformats.org/officeDocument/2006/relationships/slide" Target="/ppt/slides/slide3.xml" Id="Rb2754fcfa0984cb7" /><Relationship Type="http://schemas.openxmlformats.org/officeDocument/2006/relationships/slide" Target="/ppt/slides/slide4.xml" Id="Rd2e7c802650a4d13" /><Relationship Type="http://schemas.openxmlformats.org/officeDocument/2006/relationships/slide" Target="/ppt/slides/slide5.xml" Id="R45c6e6ddd4d14992" /><Relationship Type="http://schemas.openxmlformats.org/officeDocument/2006/relationships/slide" Target="/ppt/slides/slide6.xml" Id="Rcdd301da9e584127" /><Relationship Type="http://schemas.openxmlformats.org/officeDocument/2006/relationships/slide" Target="/ppt/slides/slide7.xml" Id="R0bce264d0d144ab5" /><Relationship Type="http://schemas.openxmlformats.org/officeDocument/2006/relationships/slide" Target="/ppt/slides/slide8.xml" Id="R6cf1ae34484c46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77c596253046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230e88dc524da1" /><Relationship Type="http://schemas.openxmlformats.org/officeDocument/2006/relationships/notesMaster" Target="/ppt/notesMasters/notesMaster1.xml" Id="R5073c41c559a44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4393d621c944b0" /><Relationship Type="http://schemas.openxmlformats.org/officeDocument/2006/relationships/notesMaster" Target="/ppt/notesMasters/notesMaster1.xml" Id="R06722927204a4c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16fb52997f4bc0" /><Relationship Type="http://schemas.openxmlformats.org/officeDocument/2006/relationships/notesMaster" Target="/ppt/notesMasters/notesMaster1.xml" Id="R55dbd610628a4d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0c8ea658d44bf7" /><Relationship Type="http://schemas.openxmlformats.org/officeDocument/2006/relationships/notesMaster" Target="/ppt/notesMasters/notesMaster1.xml" Id="Ree9e5cf0f26248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d7c645563e43c6" /><Relationship Type="http://schemas.openxmlformats.org/officeDocument/2006/relationships/notesMaster" Target="/ppt/notesMasters/notesMaster1.xml" Id="Rc80d81b8b4cf40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3d81dd7b574556" /><Relationship Type="http://schemas.openxmlformats.org/officeDocument/2006/relationships/notesMaster" Target="/ppt/notesMasters/notesMaster1.xml" Id="R7e7183266bf648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c82b2e4e74ed3" /><Relationship Type="http://schemas.openxmlformats.org/officeDocument/2006/relationships/notesMaster" Target="/ppt/notesMasters/notesMaster1.xml" Id="R457e201c26f145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3a138a62994e57" /><Relationship Type="http://schemas.openxmlformats.org/officeDocument/2006/relationships/notesMaster" Target="/ppt/notesMasters/notesMaster1.xml" Id="R04b470da95a04c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content and all figures: fictional illustrative planning scenario authored for this benchmark; not an external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content and all figures: fictional illustrative planning scenario authored for this benchmark; not an external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content and all figures: fictional illustrative planning scenario authored for this benchmark; not an external forecast.</a:t>
            </a:r>
          </a:p>
          <a:p xmlns:a="http://schemas.openxmlformats.org/drawingml/2006/main">
            <a:r>
              <a:t>- Presenter asset: source/assets/presenter-pointer.png, generated from bundled Fantasy Mouse identity and action-hand authorities.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content and all figures: fictional illustrative planning scenario authored for this benchmark; not an external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content and all figures: fictional illustrative planning scenario authored for this benchmark; not an external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content and all figures: fictional illustrative planning scenario authored for this benchmark; not an external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content and all figures: fictional illustrative planning scenario authored for this benchmark; not an external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content and all figures: fictional illustrative planning scenario authored for this benchmark; not an external forecast.</a:t>
            </a:r>
          </a:p>
          <a:p xmlns:a="http://schemas.openxmlformats.org/drawingml/2006/main">
            <a:r>
              <a:t>- Presenter asset: source/assets/presenter-listening.png, generated from bundled Fantasy Mouse canonical identity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6383e9bff47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781ea4916f494d" /><Relationship Type="http://schemas.openxmlformats.org/officeDocument/2006/relationships/slideLayout" Target="/ppt/slideLayouts/slideLayout1.xml" Id="R3ee40f048d424a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e40f048d424a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9a7cd88294389" /><Relationship Type="http://schemas.openxmlformats.org/officeDocument/2006/relationships/notesSlide" Target="/ppt/notesSlides/notesSlide1.xml" Id="R7d1c0d8d9c3b4e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913f6eccd459f" /><Relationship Type="http://schemas.openxmlformats.org/officeDocument/2006/relationships/notesSlide" Target="/ppt/notesSlides/notesSlide2.xml" Id="R56f17c51811048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34c0c6c2a4af2" /><Relationship Type="http://schemas.openxmlformats.org/officeDocument/2006/relationships/image" Target="/ppt/media/image.png" Id="R6d4308c639954896" /><Relationship Type="http://schemas.openxmlformats.org/officeDocument/2006/relationships/notesSlide" Target="/ppt/notesSlides/notesSlide3.xml" Id="R5174327542db45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540a181a84658" /><Relationship Type="http://schemas.openxmlformats.org/officeDocument/2006/relationships/notesSlide" Target="/ppt/notesSlides/notesSlide4.xml" Id="R632cd8502c164d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a8b6e2802475f" /><Relationship Type="http://schemas.openxmlformats.org/officeDocument/2006/relationships/notesSlide" Target="/ppt/notesSlides/notesSlide5.xml" Id="Rbe15e0b26e8e4b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674a7606941da" /><Relationship Type="http://schemas.openxmlformats.org/officeDocument/2006/relationships/notesSlide" Target="/ppt/notesSlides/notesSlide6.xml" Id="R7c7e3fcfaca4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f79f204f74426" /><Relationship Type="http://schemas.openxmlformats.org/officeDocument/2006/relationships/notesSlide" Target="/ppt/notesSlides/notesSlide7.xml" Id="Rf95cd27cebef47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174615b2e475f" /><Relationship Type="http://schemas.openxmlformats.org/officeDocument/2006/relationships/image" Target="/ppt/media/image2.png" Id="Rcc37729e86aa4660" /><Relationship Type="http://schemas.openxmlformats.org/officeDocument/2006/relationships/notesSlide" Target="/ppt/notesSlides/notesSlide8.xml" Id="R41d500fd16e84c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9F0A872F-8931-49B1-95DE-C5847901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265D5"/>
                </a:solidFill>
              </a:defRPr>
            </a:pPr>
            <a:r>
              <a:rPr sz="1200" b="1" i="0">
                <a:solidFill>
                  <a:srgbClr val="3265D5"/>
                </a:solidFill>
              </a:rPr>
              <a:t>REGIONAL GRID STEERING COMMITTEE / DECISION BRIEF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46F54D52-0692-46CF-A63D-74FE3F7F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11827"/>
                </a:solidFill>
              </a:defRPr>
            </a:pPr>
            <a:r>
              <a:rPr sz="5700" b="1" i="0">
                <a:solidFill>
                  <a:srgbClr val="111827"/>
                </a:solidFill>
              </a:rPr>
              <a:t>Grid Forward</a:t>
            </a:r>
          </a:p>
          <a:p xmlns:a="http://schemas.openxmlformats.org/drawingml/2006/main">
            <a:pPr algn="l">
              <a:defRPr sz="5700" b="1" i="0">
                <a:solidFill>
                  <a:srgbClr val="111827"/>
                </a:solidFill>
              </a:defRPr>
            </a:pPr>
            <a:r>
              <a:rPr sz="5700" b="1" i="0">
                <a:solidFill>
                  <a:srgbClr val="111827"/>
                </a:solidFill>
              </a:rPr>
              <a:t>2030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C0F39EE3-CD7F-4DC8-834C-CED23451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5F6670"/>
                </a:solidFill>
              </a:defRPr>
            </a:pPr>
            <a:r>
              <a:rPr sz="2250" b="0" i="0">
                <a:solidFill>
                  <a:srgbClr val="5F6670"/>
                </a:solidFill>
              </a:rPr>
              <a:t>A staged portfolio for visibility, flexibility, and resilience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77D91C1-78F5-4814-9EB4-0FC439EF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horizon">
            <a:extLst xmlns:a="http://schemas.openxmlformats.org/drawingml/2006/main">
              <a:ext uri="{FF2B5EF4-FFF2-40B4-BE49-F238E27FC236}">
                <a16:creationId xmlns:a16="http://schemas.microsoft.com/office/drawing/2014/main" id="{9A1AEC60-4C90-4774-A6CE-9F74EAD0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670"/>
                </a:solidFill>
              </a:defRPr>
            </a:pPr>
            <a:r>
              <a:rPr sz="1200" b="1" i="0">
                <a:solidFill>
                  <a:srgbClr val="5F6670"/>
                </a:solidFill>
              </a:rPr>
              <a:t>Decision horizon</a:t>
            </a:r>
          </a:p>
        </p:txBody>
      </p:sp>
      <p:sp>
        <p:nvSpPr>
          <p:cNvPr id="6" name="horizon-value">
            <a:extLst xmlns:a="http://schemas.openxmlformats.org/drawingml/2006/main">
              <a:ext uri="{FF2B5EF4-FFF2-40B4-BE49-F238E27FC236}">
                <a16:creationId xmlns:a16="http://schemas.microsoft.com/office/drawing/2014/main" id="{8A1F23E5-74EF-4E09-872D-16B2CD8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2026 → 2030</a:t>
            </a:r>
          </a:p>
        </p:txBody>
      </p:sp>
      <p:sp>
        <p:nvSpPr>
          <p:cNvPr id="7" name="horizon-block">
            <a:extLst xmlns:a="http://schemas.openxmlformats.org/drawingml/2006/main">
              <a:ext uri="{FF2B5EF4-FFF2-40B4-BE49-F238E27FC236}">
                <a16:creationId xmlns:a16="http://schemas.microsoft.com/office/drawing/2014/main" id="{5BA92D16-C251-4329-A9DC-1458FF4B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047750"/>
            <a:ext cx="2038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orizon-2030">
            <a:extLst xmlns:a="http://schemas.openxmlformats.org/drawingml/2006/main">
              <a:ext uri="{FF2B5EF4-FFF2-40B4-BE49-F238E27FC236}">
                <a16:creationId xmlns:a16="http://schemas.microsoft.com/office/drawing/2014/main" id="{526C4354-6A06-48C5-8CD8-E7EC380E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573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400" b="1" i="0">
                <a:solidFill>
                  <a:srgbClr val="F4F2ED"/>
                </a:solidFill>
              </a:defRPr>
            </a:pPr>
            <a:r>
              <a:rPr sz="8400" b="1" i="0">
                <a:solidFill>
                  <a:srgbClr val="F4F2ED"/>
                </a:solidFill>
              </a:rPr>
              <a:t>30</a:t>
            </a:r>
          </a:p>
        </p:txBody>
      </p:sp>
      <p:sp>
        <p:nvSpPr>
          <p:cNvPr id="9" name="horizon-copy">
            <a:extLst xmlns:a="http://schemas.openxmlformats.org/drawingml/2006/main">
              <a:ext uri="{FF2B5EF4-FFF2-40B4-BE49-F238E27FC236}">
                <a16:creationId xmlns:a16="http://schemas.microsoft.com/office/drawing/2014/main" id="{202B7D27-C701-4FBA-A573-A5C61C8B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1504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F2ED"/>
                </a:solidFill>
              </a:defRPr>
            </a:pPr>
            <a:r>
              <a:rPr sz="1800" b="1" i="0">
                <a:solidFill>
                  <a:srgbClr val="F4F2ED"/>
                </a:solidFill>
              </a:rPr>
              <a:t>Modernize as one sequence, not isolated projects.</a:t>
            </a:r>
          </a:p>
        </p:txBody>
      </p:sp>
      <p:sp>
        <p:nvSpPr>
          <p:cNvPr id="10" name="title-scenario">
            <a:extLst xmlns:a="http://schemas.openxmlformats.org/drawingml/2006/main">
              <a:ext uri="{FF2B5EF4-FFF2-40B4-BE49-F238E27FC236}">
                <a16:creationId xmlns:a16="http://schemas.microsoft.com/office/drawing/2014/main" id="{3FF47B29-C121-452C-BB4F-AAD82973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Illustrative planning scenario — not a forecast</a:t>
            </a:r>
          </a:p>
        </p:txBody>
      </p:sp>
    </p:spTree>
    <p:extLst>
      <p:ext uri="{BB962C8B-B14F-4D97-AF65-F5344CB8AC3E}">
        <p14:creationId xmlns:p14="http://schemas.microsoft.com/office/powerpoint/2010/main" val="780136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">
            <a:extLst xmlns:a="http://schemas.openxmlformats.org/drawingml/2006/main">
              <a:ext uri="{FF2B5EF4-FFF2-40B4-BE49-F238E27FC236}">
                <a16:creationId xmlns:a16="http://schemas.microsoft.com/office/drawing/2014/main" id="{792CED1E-D465-470F-89E6-D2475161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670"/>
                </a:solidFill>
              </a:defRPr>
            </a:pPr>
            <a:r>
              <a:rPr sz="1125" b="1" i="0">
                <a:solidFill>
                  <a:srgbClr val="5F6670"/>
                </a:solidFill>
              </a:rPr>
              <a:t>02 / DECISION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37AB3E2-96FD-4828-BAD0-56A91CFB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</a:defRPr>
            </a:pPr>
            <a:r>
              <a:rPr sz="3600" b="1" i="0">
                <a:solidFill>
                  <a:srgbClr val="111827"/>
                </a:solidFill>
              </a:rPr>
              <a:t>Authorize a staged portfolio with explicit gates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5A2DFF54-1A7C-4C97-8B61-6D20978D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label-2">
            <a:extLst xmlns:a="http://schemas.openxmlformats.org/drawingml/2006/main">
              <a:ext uri="{FF2B5EF4-FFF2-40B4-BE49-F238E27FC236}">
                <a16:creationId xmlns:a16="http://schemas.microsoft.com/office/drawing/2014/main" id="{5B36C681-C06F-4A1A-B2DB-FA8755EC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Illustrative planning scenario — not a forecast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61D0E886-454C-4D2C-98FD-14A03001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02</a:t>
            </a:r>
          </a:p>
        </p:txBody>
      </p:sp>
      <p:sp>
        <p:nvSpPr>
          <p:cNvPr id="6" name="decision-statement">
            <a:extLst xmlns:a="http://schemas.openxmlformats.org/drawingml/2006/main">
              <a:ext uri="{FF2B5EF4-FFF2-40B4-BE49-F238E27FC236}">
                <a16:creationId xmlns:a16="http://schemas.microsoft.com/office/drawing/2014/main" id="{68E8D520-6DA5-46CD-946C-57E045E8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Approve the sequence.</a:t>
            </a:r>
          </a:p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Release each phase only when its evidence is ready.</a:t>
            </a:r>
          </a:p>
        </p:txBody>
      </p:sp>
      <p:sp>
        <p:nvSpPr>
          <p:cNvPr id="7" name="decision-accent">
            <a:extLst xmlns:a="http://schemas.openxmlformats.org/drawingml/2006/main">
              <a:ext uri="{FF2B5EF4-FFF2-40B4-BE49-F238E27FC236}">
                <a16:creationId xmlns:a16="http://schemas.microsoft.com/office/drawing/2014/main" id="{2296BA3A-3872-47A0-B37B-DF30D9FA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685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cision-definition">
            <a:extLst xmlns:a="http://schemas.openxmlformats.org/drawingml/2006/main">
              <a:ext uri="{FF2B5EF4-FFF2-40B4-BE49-F238E27FC236}">
                <a16:creationId xmlns:a16="http://schemas.microsoft.com/office/drawing/2014/main" id="{7ED12115-5E46-44A3-B2D1-731AE223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670"/>
                </a:solidFill>
              </a:defRPr>
            </a:pPr>
            <a:r>
              <a:rPr sz="1800" b="0" i="0">
                <a:solidFill>
                  <a:srgbClr val="5F6670"/>
                </a:solidFill>
              </a:rPr>
              <a:t>The portfolio advances three linked capabilities together and preserves stop / reshape / proceed decisions at every boundary.</a:t>
            </a:r>
          </a:p>
        </p:txBody>
      </p:sp>
      <p:sp>
        <p:nvSpPr>
          <p:cNvPr id="9" name="gate-label">
            <a:extLst xmlns:a="http://schemas.openxmlformats.org/drawingml/2006/main">
              <a:ext uri="{FF2B5EF4-FFF2-40B4-BE49-F238E27FC236}">
                <a16:creationId xmlns:a16="http://schemas.microsoft.com/office/drawing/2014/main" id="{0A64C3FD-C9D6-4FF9-9385-9382CDF8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5A"/>
                </a:solidFill>
              </a:defRPr>
            </a:pPr>
            <a:r>
              <a:rPr sz="1200" b="1" i="0">
                <a:solidFill>
                  <a:srgbClr val="167A5A"/>
                </a:solidFill>
              </a:rPr>
              <a:t>THREE CONDITIONS FOR RELEASE</a:t>
            </a:r>
          </a:p>
        </p:txBody>
      </p:sp>
      <p:sp>
        <p:nvSpPr>
          <p:cNvPr id="10" name="gate-index-0">
            <a:extLst xmlns:a="http://schemas.openxmlformats.org/drawingml/2006/main">
              <a:ext uri="{FF2B5EF4-FFF2-40B4-BE49-F238E27FC236}">
                <a16:creationId xmlns:a16="http://schemas.microsoft.com/office/drawing/2014/main" id="{B8454330-14B0-4CDF-A275-3554DA14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7A5A"/>
                </a:solidFill>
              </a:defRPr>
            </a:pPr>
            <a:r>
              <a:rPr sz="1650" b="1" i="0">
                <a:solidFill>
                  <a:srgbClr val="167A5A"/>
                </a:solidFill>
              </a:rPr>
              <a:t>01</a:t>
            </a:r>
          </a:p>
        </p:txBody>
      </p:sp>
      <p:sp>
        <p:nvSpPr>
          <p:cNvPr id="11" name="gate-heading-0">
            <a:extLst xmlns:a="http://schemas.openxmlformats.org/drawingml/2006/main">
              <a:ext uri="{FF2B5EF4-FFF2-40B4-BE49-F238E27FC236}">
                <a16:creationId xmlns:a16="http://schemas.microsoft.com/office/drawing/2014/main" id="{C5B07D44-21B3-4301-8BF1-4FCAE6CC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Evidence</a:t>
            </a:r>
          </a:p>
        </p:txBody>
      </p:sp>
      <p:sp>
        <p:nvSpPr>
          <p:cNvPr id="12" name="gate-copy-0">
            <a:extLst xmlns:a="http://schemas.openxmlformats.org/drawingml/2006/main">
              <a:ext uri="{FF2B5EF4-FFF2-40B4-BE49-F238E27FC236}">
                <a16:creationId xmlns:a16="http://schemas.microsoft.com/office/drawing/2014/main" id="{9CC3F694-89EE-416B-852A-D189006A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62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670"/>
                </a:solidFill>
              </a:defRPr>
            </a:pPr>
            <a:r>
              <a:rPr sz="1350" b="0" i="0">
                <a:solidFill>
                  <a:srgbClr val="5F6670"/>
                </a:solidFill>
              </a:rPr>
              <a:t>Measured readiness against phase criteria</a:t>
            </a:r>
          </a:p>
        </p:txBody>
      </p:sp>
      <p:sp>
        <p:nvSpPr>
          <p:cNvPr id="13" name="gate-rule-0">
            <a:extLst xmlns:a="http://schemas.openxmlformats.org/drawingml/2006/main">
              <a:ext uri="{FF2B5EF4-FFF2-40B4-BE49-F238E27FC236}">
                <a16:creationId xmlns:a16="http://schemas.microsoft.com/office/drawing/2014/main" id="{2A9F8955-5C4B-4954-AF57-D940BAD2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ate-index-1">
            <a:extLst xmlns:a="http://schemas.openxmlformats.org/drawingml/2006/main">
              <a:ext uri="{FF2B5EF4-FFF2-40B4-BE49-F238E27FC236}">
                <a16:creationId xmlns:a16="http://schemas.microsoft.com/office/drawing/2014/main" id="{C9FCE8B8-8A5C-4AE4-BB31-7BE76EB6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7A5A"/>
                </a:solidFill>
              </a:defRPr>
            </a:pPr>
            <a:r>
              <a:rPr sz="1650" b="1" i="0">
                <a:solidFill>
                  <a:srgbClr val="167A5A"/>
                </a:solidFill>
              </a:rPr>
              <a:t>02</a:t>
            </a:r>
          </a:p>
        </p:txBody>
      </p:sp>
      <p:sp>
        <p:nvSpPr>
          <p:cNvPr id="15" name="gate-heading-1">
            <a:extLst xmlns:a="http://schemas.openxmlformats.org/drawingml/2006/main">
              <a:ext uri="{FF2B5EF4-FFF2-40B4-BE49-F238E27FC236}">
                <a16:creationId xmlns:a16="http://schemas.microsoft.com/office/drawing/2014/main" id="{17656FD3-7261-4ADC-B2DF-16A77D29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Owner</a:t>
            </a:r>
          </a:p>
        </p:txBody>
      </p:sp>
      <p:sp>
        <p:nvSpPr>
          <p:cNvPr id="16" name="gate-copy-1">
            <a:extLst xmlns:a="http://schemas.openxmlformats.org/drawingml/2006/main">
              <a:ext uri="{FF2B5EF4-FFF2-40B4-BE49-F238E27FC236}">
                <a16:creationId xmlns:a16="http://schemas.microsoft.com/office/drawing/2014/main" id="{DB97B7C8-BD2E-4745-88B0-70B58190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909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670"/>
                </a:solidFill>
              </a:defRPr>
            </a:pPr>
            <a:r>
              <a:rPr sz="1350" b="0" i="0">
                <a:solidFill>
                  <a:srgbClr val="5F6670"/>
                </a:solidFill>
              </a:rPr>
              <a:t>Named executive and delivery accountability</a:t>
            </a:r>
          </a:p>
        </p:txBody>
      </p:sp>
      <p:sp>
        <p:nvSpPr>
          <p:cNvPr id="17" name="gate-rule-1">
            <a:extLst xmlns:a="http://schemas.openxmlformats.org/drawingml/2006/main">
              <a:ext uri="{FF2B5EF4-FFF2-40B4-BE49-F238E27FC236}">
                <a16:creationId xmlns:a16="http://schemas.microsoft.com/office/drawing/2014/main" id="{8ADC399D-9265-4D88-987D-2E9D5EB3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ate-index-2">
            <a:extLst xmlns:a="http://schemas.openxmlformats.org/drawingml/2006/main">
              <a:ext uri="{FF2B5EF4-FFF2-40B4-BE49-F238E27FC236}">
                <a16:creationId xmlns:a16="http://schemas.microsoft.com/office/drawing/2014/main" id="{0C1C70A5-4ACF-4E2A-8141-4D634BC1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7A5A"/>
                </a:solidFill>
              </a:defRPr>
            </a:pPr>
            <a:r>
              <a:rPr sz="1650" b="1" i="0">
                <a:solidFill>
                  <a:srgbClr val="167A5A"/>
                </a:solidFill>
              </a:rPr>
              <a:t>03</a:t>
            </a:r>
          </a:p>
        </p:txBody>
      </p:sp>
      <p:sp>
        <p:nvSpPr>
          <p:cNvPr id="19" name="gate-heading-2">
            <a:extLst xmlns:a="http://schemas.openxmlformats.org/drawingml/2006/main">
              <a:ext uri="{FF2B5EF4-FFF2-40B4-BE49-F238E27FC236}">
                <a16:creationId xmlns:a16="http://schemas.microsoft.com/office/drawing/2014/main" id="{4FFDF3BE-E495-4968-97C2-E136CFED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57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Choice</a:t>
            </a:r>
          </a:p>
        </p:txBody>
      </p:sp>
      <p:sp>
        <p:nvSpPr>
          <p:cNvPr id="20" name="gate-copy-2">
            <a:extLst xmlns:a="http://schemas.openxmlformats.org/drawingml/2006/main">
              <a:ext uri="{FF2B5EF4-FFF2-40B4-BE49-F238E27FC236}">
                <a16:creationId xmlns:a16="http://schemas.microsoft.com/office/drawing/2014/main" id="{D0DC49FF-E0F5-4DAF-AB92-A6179DB8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196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670"/>
                </a:solidFill>
              </a:defRPr>
            </a:pPr>
            <a:r>
              <a:rPr sz="1350" b="0" i="0">
                <a:solidFill>
                  <a:srgbClr val="5F6670"/>
                </a:solidFill>
              </a:rPr>
              <a:t>Proceed, reshape, or stop — explicitly</a:t>
            </a:r>
          </a:p>
        </p:txBody>
      </p:sp>
      <p:sp>
        <p:nvSpPr>
          <p:cNvPr id="21" name="gate-rule-2">
            <a:extLst xmlns:a="http://schemas.openxmlformats.org/drawingml/2006/main">
              <a:ext uri="{FF2B5EF4-FFF2-40B4-BE49-F238E27FC236}">
                <a16:creationId xmlns:a16="http://schemas.microsoft.com/office/drawing/2014/main" id="{B940CA6B-0B46-464D-AB6E-CA00316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3947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3">
            <a:extLst xmlns:a="http://schemas.openxmlformats.org/drawingml/2006/main">
              <a:ext uri="{FF2B5EF4-FFF2-40B4-BE49-F238E27FC236}">
                <a16:creationId xmlns:a16="http://schemas.microsoft.com/office/drawing/2014/main" id="{FB798E70-CC76-4FF5-BC72-A2E4B1B1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670"/>
                </a:solidFill>
              </a:defRPr>
            </a:pPr>
            <a:r>
              <a:rPr sz="1125" b="1" i="0">
                <a:solidFill>
                  <a:srgbClr val="5F6670"/>
                </a:solidFill>
              </a:rPr>
              <a:t>03 / GAP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F9A508E-71B7-41E1-B131-AD94C4F5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</a:defRPr>
            </a:pPr>
            <a:r>
              <a:rPr sz="3600" b="1" i="0">
                <a:solidFill>
                  <a:srgbClr val="111827"/>
                </a:solidFill>
              </a:rPr>
              <a:t>Isolated projects leave a 19-point controllability gap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0C78AF4A-4515-4C37-82F1-9CD8A4E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label-3">
            <a:extLst xmlns:a="http://schemas.openxmlformats.org/drawingml/2006/main">
              <a:ext uri="{FF2B5EF4-FFF2-40B4-BE49-F238E27FC236}">
                <a16:creationId xmlns:a16="http://schemas.microsoft.com/office/drawing/2014/main" id="{DDA08B04-9BBB-4D3A-8255-6DC15F3A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Illustrative planning scenario — not a forecast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F93CEA96-FC2F-491E-8132-1BD57E3E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03</a:t>
            </a:r>
          </a:p>
        </p:txBody>
      </p:sp>
      <p:sp>
        <p:nvSpPr>
          <p:cNvPr id="6" name="gap-context">
            <a:extLst xmlns:a="http://schemas.openxmlformats.org/drawingml/2006/main">
              <a:ext uri="{FF2B5EF4-FFF2-40B4-BE49-F238E27FC236}">
                <a16:creationId xmlns:a16="http://schemas.microsoft.com/office/drawing/2014/main" id="{A9F09D74-7139-4895-81A9-9F27ACBB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F6670"/>
                </a:solidFill>
              </a:defRPr>
            </a:pPr>
            <a:r>
              <a:rPr sz="1350" b="1" i="0">
                <a:solidFill>
                  <a:srgbClr val="5F6670"/>
                </a:solidFill>
              </a:rPr>
              <a:t>2030 index (2026 = 100)</a:t>
            </a:r>
          </a:p>
        </p:txBody>
      </p:sp>
      <p:sp>
        <p:nvSpPr>
          <p:cNvPr id="7" name="grid-100">
            <a:extLst xmlns:a="http://schemas.openxmlformats.org/drawingml/2006/main">
              <a:ext uri="{FF2B5EF4-FFF2-40B4-BE49-F238E27FC236}">
                <a16:creationId xmlns:a16="http://schemas.microsoft.com/office/drawing/2014/main" id="{391DF19D-B3F0-4CBA-BD85-CE0D161C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ck-100">
            <a:extLst xmlns:a="http://schemas.openxmlformats.org/drawingml/2006/main">
              <a:ext uri="{FF2B5EF4-FFF2-40B4-BE49-F238E27FC236}">
                <a16:creationId xmlns:a16="http://schemas.microsoft.com/office/drawing/2014/main" id="{D2ED5DDD-7836-47A1-B2FA-6558A5E7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670"/>
                </a:solidFill>
              </a:defRPr>
            </a:pPr>
            <a:r>
              <a:rPr sz="1200" b="0" i="0">
                <a:solidFill>
                  <a:srgbClr val="5F6670"/>
                </a:solidFill>
              </a:rPr>
              <a:t>100</a:t>
            </a:r>
          </a:p>
        </p:txBody>
      </p:sp>
      <p:sp>
        <p:nvSpPr>
          <p:cNvPr id="9" name="grid-110">
            <a:extLst xmlns:a="http://schemas.openxmlformats.org/drawingml/2006/main">
              <a:ext uri="{FF2B5EF4-FFF2-40B4-BE49-F238E27FC236}">
                <a16:creationId xmlns:a16="http://schemas.microsoft.com/office/drawing/2014/main" id="{EC86DE35-D4FB-479B-98AC-78EDB1F0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ck-110">
            <a:extLst xmlns:a="http://schemas.openxmlformats.org/drawingml/2006/main">
              <a:ext uri="{FF2B5EF4-FFF2-40B4-BE49-F238E27FC236}">
                <a16:creationId xmlns:a16="http://schemas.microsoft.com/office/drawing/2014/main" id="{1F5DF2FF-E96D-4C17-A56A-DBC64A7E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670"/>
                </a:solidFill>
              </a:defRPr>
            </a:pPr>
            <a:r>
              <a:rPr sz="1200" b="0" i="0">
                <a:solidFill>
                  <a:srgbClr val="5F6670"/>
                </a:solidFill>
              </a:rPr>
              <a:t>110</a:t>
            </a:r>
          </a:p>
        </p:txBody>
      </p:sp>
      <p:sp>
        <p:nvSpPr>
          <p:cNvPr id="11" name="grid-120">
            <a:extLst xmlns:a="http://schemas.openxmlformats.org/drawingml/2006/main">
              <a:ext uri="{FF2B5EF4-FFF2-40B4-BE49-F238E27FC236}">
                <a16:creationId xmlns:a16="http://schemas.microsoft.com/office/drawing/2014/main" id="{27C7B732-DE8D-482D-A27F-7B6AA6D8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337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ck-120">
            <a:extLst xmlns:a="http://schemas.openxmlformats.org/drawingml/2006/main">
              <a:ext uri="{FF2B5EF4-FFF2-40B4-BE49-F238E27FC236}">
                <a16:creationId xmlns:a16="http://schemas.microsoft.com/office/drawing/2014/main" id="{ECEA2378-33D0-4698-BE8D-39EB7CD5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670"/>
                </a:solidFill>
              </a:defRPr>
            </a:pPr>
            <a:r>
              <a:rPr sz="1200" b="0" i="0">
                <a:solidFill>
                  <a:srgbClr val="5F6670"/>
                </a:solidFill>
              </a:rPr>
              <a:t>120</a:t>
            </a:r>
          </a:p>
        </p:txBody>
      </p:sp>
      <p:sp>
        <p:nvSpPr>
          <p:cNvPr id="13" name="grid-130">
            <a:extLst xmlns:a="http://schemas.openxmlformats.org/drawingml/2006/main">
              <a:ext uri="{FF2B5EF4-FFF2-40B4-BE49-F238E27FC236}">
                <a16:creationId xmlns:a16="http://schemas.microsoft.com/office/drawing/2014/main" id="{D684CD98-3AB3-4EEA-BF2E-7C5ACAE9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ck-130">
            <a:extLst xmlns:a="http://schemas.openxmlformats.org/drawingml/2006/main">
              <a:ext uri="{FF2B5EF4-FFF2-40B4-BE49-F238E27FC236}">
                <a16:creationId xmlns:a16="http://schemas.microsoft.com/office/drawing/2014/main" id="{F21424A6-A8C4-4B05-8415-77AD21F7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670"/>
                </a:solidFill>
              </a:defRPr>
            </a:pPr>
            <a:r>
              <a:rPr sz="1200" b="0" i="0">
                <a:solidFill>
                  <a:srgbClr val="5F6670"/>
                </a:solidFill>
              </a:rPr>
              <a:t>130</a:t>
            </a:r>
          </a:p>
        </p:txBody>
      </p:sp>
      <p:sp>
        <p:nvSpPr>
          <p:cNvPr id="15" name="demand-bar">
            <a:extLst xmlns:a="http://schemas.openxmlformats.org/drawingml/2006/main">
              <a:ext uri="{FF2B5EF4-FFF2-40B4-BE49-F238E27FC236}">
                <a16:creationId xmlns:a16="http://schemas.microsoft.com/office/drawing/2014/main" id="{3914D323-6842-49B6-B95B-3F908B8C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14287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pacity-bar">
            <a:extLst xmlns:a="http://schemas.openxmlformats.org/drawingml/2006/main">
              <a:ext uri="{FF2B5EF4-FFF2-40B4-BE49-F238E27FC236}">
                <a16:creationId xmlns:a16="http://schemas.microsoft.com/office/drawing/2014/main" id="{084DC544-7992-4333-A0AF-05A3DDC2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71950"/>
            <a:ext cx="1428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mand-value">
            <a:extLst xmlns:a="http://schemas.openxmlformats.org/drawingml/2006/main">
              <a:ext uri="{FF2B5EF4-FFF2-40B4-BE49-F238E27FC236}">
                <a16:creationId xmlns:a16="http://schemas.microsoft.com/office/drawing/2014/main" id="{8CC6A541-02B7-4D68-8731-20E8DA18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265D5"/>
                </a:solidFill>
              </a:defRPr>
            </a:pPr>
            <a:r>
              <a:rPr sz="2250" b="1" i="0">
                <a:solidFill>
                  <a:srgbClr val="3265D5"/>
                </a:solidFill>
              </a:rPr>
              <a:t>128</a:t>
            </a:r>
          </a:p>
        </p:txBody>
      </p:sp>
      <p:sp>
        <p:nvSpPr>
          <p:cNvPr id="18" name="capacity-value">
            <a:extLst xmlns:a="http://schemas.openxmlformats.org/drawingml/2006/main">
              <a:ext uri="{FF2B5EF4-FFF2-40B4-BE49-F238E27FC236}">
                <a16:creationId xmlns:a16="http://schemas.microsoft.com/office/drawing/2014/main" id="{0D7D3B62-B60E-4800-AFDA-C9BEB0F6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9C5A00"/>
                </a:solidFill>
              </a:defRPr>
            </a:pPr>
            <a:r>
              <a:rPr sz="2250" b="1" i="0">
                <a:solidFill>
                  <a:srgbClr val="9C5A00"/>
                </a:solidFill>
              </a:rPr>
              <a:t>109</a:t>
            </a:r>
          </a:p>
        </p:txBody>
      </p:sp>
      <p:sp>
        <p:nvSpPr>
          <p:cNvPr id="19" name="demand-label">
            <a:extLst xmlns:a="http://schemas.openxmlformats.org/drawingml/2006/main">
              <a:ext uri="{FF2B5EF4-FFF2-40B4-BE49-F238E27FC236}">
                <a16:creationId xmlns:a16="http://schemas.microsoft.com/office/drawing/2014/main" id="{50DD05EB-E8F6-4776-A945-51B160DC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Illustrative peak</a:t>
            </a:r>
          </a:p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demand</a:t>
            </a:r>
          </a:p>
        </p:txBody>
      </p:sp>
      <p:sp>
        <p:nvSpPr>
          <p:cNvPr id="20" name="capacity-label">
            <a:extLst xmlns:a="http://schemas.openxmlformats.org/drawingml/2006/main">
              <a:ext uri="{FF2B5EF4-FFF2-40B4-BE49-F238E27FC236}">
                <a16:creationId xmlns:a16="http://schemas.microsoft.com/office/drawing/2014/main" id="{D3D6F48A-9C21-43D2-A83A-FD8CAABD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Controllable</a:t>
            </a:r>
          </a:p>
          <a:p xmlns:a="http://schemas.openxmlformats.org/drawingml/2006/main">
            <a:pPr algn="ctr">
              <a:defRPr sz="1350" b="1" i="0">
                <a:solidFill>
                  <a:srgbClr val="111827"/>
                </a:solidFill>
              </a:defRPr>
            </a:pPr>
            <a:r>
              <a:rPr sz="1350" b="1" i="0">
                <a:solidFill>
                  <a:srgbClr val="111827"/>
                </a:solidFill>
              </a:rPr>
              <a:t>capacity</a:t>
            </a:r>
          </a:p>
        </p:txBody>
      </p:sp>
      <p:sp>
        <p:nvSpPr>
          <p:cNvPr id="21" name="gap-bracket">
            <a:extLst xmlns:a="http://schemas.openxmlformats.org/drawingml/2006/main">
              <a:ext uri="{FF2B5EF4-FFF2-40B4-BE49-F238E27FC236}">
                <a16:creationId xmlns:a16="http://schemas.microsoft.com/office/drawing/2014/main" id="{4BFF226C-73A4-4148-9576-1003CE39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ap-top">
            <a:extLst xmlns:a="http://schemas.openxmlformats.org/drawingml/2006/main">
              <a:ext uri="{FF2B5EF4-FFF2-40B4-BE49-F238E27FC236}">
                <a16:creationId xmlns:a16="http://schemas.microsoft.com/office/drawing/2014/main" id="{3463DD39-6C96-4EFF-B258-5EBC90F4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ap-bottom">
            <a:extLst xmlns:a="http://schemas.openxmlformats.org/drawingml/2006/main">
              <a:ext uri="{FF2B5EF4-FFF2-40B4-BE49-F238E27FC236}">
                <a16:creationId xmlns:a16="http://schemas.microsoft.com/office/drawing/2014/main" id="{B226AA01-A104-4ED8-AFFE-66A0F419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ap-callout">
            <a:extLst xmlns:a="http://schemas.openxmlformats.org/drawingml/2006/main">
              <a:ext uri="{FF2B5EF4-FFF2-40B4-BE49-F238E27FC236}">
                <a16:creationId xmlns:a16="http://schemas.microsoft.com/office/drawing/2014/main" id="{6C5A212F-B57C-4FCB-B012-450D3E15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B6423A"/>
                </a:solidFill>
              </a:defRPr>
            </a:pPr>
            <a:r>
              <a:rPr sz="4650" b="1" i="0">
                <a:solidFill>
                  <a:srgbClr val="B6423A"/>
                </a:solidFill>
              </a:rPr>
              <a:t>19</a:t>
            </a:r>
          </a:p>
        </p:txBody>
      </p:sp>
      <p:sp>
        <p:nvSpPr>
          <p:cNvPr id="25" name="gap-callout-copy">
            <a:extLst xmlns:a="http://schemas.openxmlformats.org/drawingml/2006/main">
              <a:ext uri="{FF2B5EF4-FFF2-40B4-BE49-F238E27FC236}">
                <a16:creationId xmlns:a16="http://schemas.microsoft.com/office/drawing/2014/main" id="{D8AFAF6F-1CD7-4F74-8DFA-4D28AA82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385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index points remain outside informed control</a:t>
            </a:r>
          </a:p>
        </p:txBody>
      </p:sp>
      <p:sp>
        <p:nvSpPr>
          <p:cNvPr id="26" name="gap-implication">
            <a:extLst xmlns:a="http://schemas.openxmlformats.org/drawingml/2006/main">
              <a:ext uri="{FF2B5EF4-FFF2-40B4-BE49-F238E27FC236}">
                <a16:creationId xmlns:a16="http://schemas.microsoft.com/office/drawing/2014/main" id="{B8F6BDBC-522C-421D-974D-3E113545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19650"/>
            <a:ext cx="204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6670"/>
                </a:solidFill>
              </a:defRPr>
            </a:pPr>
            <a:r>
              <a:rPr sz="1650" b="0" i="0">
                <a:solidFill>
                  <a:srgbClr val="5F6670"/>
                </a:solidFill>
              </a:rPr>
              <a:t>Capacity alone does not create informed control.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308c639954896"/>
          <a:stretch xmlns:a="http://schemas.openxmlformats.org/drawingml/2006/main"/>
        </p:blipFill>
        <p:spPr>
          <a:xfrm xmlns:a="http://schemas.openxmlformats.org/drawingml/2006/main" flipH="1">
            <a:off x="7191375" y="3886200"/>
            <a:ext cx="1428750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29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4">
            <a:extLst xmlns:a="http://schemas.openxmlformats.org/drawingml/2006/main">
              <a:ext uri="{FF2B5EF4-FFF2-40B4-BE49-F238E27FC236}">
                <a16:creationId xmlns:a16="http://schemas.microsoft.com/office/drawing/2014/main" id="{B3D90862-6120-4AE5-BDFF-F5EB0AF9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670"/>
                </a:solidFill>
              </a:defRPr>
            </a:pPr>
            <a:r>
              <a:rPr sz="1125" b="1" i="0">
                <a:solidFill>
                  <a:srgbClr val="5F6670"/>
                </a:solidFill>
              </a:rPr>
              <a:t>04 / PRIORITIES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0891E45-C417-4D67-BBA7-514FB35C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</a:defRPr>
            </a:pPr>
            <a:r>
              <a:rPr sz="3600" b="1" i="0">
                <a:solidFill>
                  <a:srgbClr val="111827"/>
                </a:solidFill>
              </a:rPr>
              <a:t>Three linked capabilities turn pressure into reliability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DFEA91CA-86AC-44C1-8624-19543F13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label-4">
            <a:extLst xmlns:a="http://schemas.openxmlformats.org/drawingml/2006/main">
              <a:ext uri="{FF2B5EF4-FFF2-40B4-BE49-F238E27FC236}">
                <a16:creationId xmlns:a16="http://schemas.microsoft.com/office/drawing/2014/main" id="{8ACD55A9-106C-48B7-A581-F33AB70D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Illustrative planning scenario — not a forecast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39CBCBD1-E360-459F-9DBF-8655994B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04</a:t>
            </a:r>
          </a:p>
        </p:txBody>
      </p:sp>
      <p:sp>
        <p:nvSpPr>
          <p:cNvPr id="6" name="priority-spine">
            <a:extLst xmlns:a="http://schemas.openxmlformats.org/drawingml/2006/main">
              <a:ext uri="{FF2B5EF4-FFF2-40B4-BE49-F238E27FC236}">
                <a16:creationId xmlns:a16="http://schemas.microsoft.com/office/drawing/2014/main" id="{722FBCC2-1DAF-4524-8AB7-93CC6C4C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iority-node-0">
            <a:extLst xmlns:a="http://schemas.openxmlformats.org/drawingml/2006/main">
              <a:ext uri="{FF2B5EF4-FFF2-40B4-BE49-F238E27FC236}">
                <a16:creationId xmlns:a16="http://schemas.microsoft.com/office/drawing/2014/main" id="{CAC0BC8B-C823-4773-AFF9-B423C09E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iority-index-0">
            <a:extLst xmlns:a="http://schemas.openxmlformats.org/drawingml/2006/main">
              <a:ext uri="{FF2B5EF4-FFF2-40B4-BE49-F238E27FC236}">
                <a16:creationId xmlns:a16="http://schemas.microsoft.com/office/drawing/2014/main" id="{B05BBA83-DE7E-4D08-B338-C32D4EF8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priority-heading-0">
            <a:extLst xmlns:a="http://schemas.openxmlformats.org/drawingml/2006/main">
              <a:ext uri="{FF2B5EF4-FFF2-40B4-BE49-F238E27FC236}">
                <a16:creationId xmlns:a16="http://schemas.microsoft.com/office/drawing/2014/main" id="{9822CD17-679C-459C-B9F7-454355D2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265D5"/>
                </a:solidFill>
              </a:defRPr>
            </a:pPr>
            <a:r>
              <a:rPr sz="2550" b="1" i="0">
                <a:solidFill>
                  <a:srgbClr val="3265D5"/>
                </a:solidFill>
              </a:rPr>
              <a:t>Visibility</a:t>
            </a:r>
          </a:p>
        </p:txBody>
      </p:sp>
      <p:sp>
        <p:nvSpPr>
          <p:cNvPr id="10" name="priority-claim-0">
            <a:extLst xmlns:a="http://schemas.openxmlformats.org/drawingml/2006/main">
              <a:ext uri="{FF2B5EF4-FFF2-40B4-BE49-F238E27FC236}">
                <a16:creationId xmlns:a16="http://schemas.microsoft.com/office/drawing/2014/main" id="{CA9F2DA9-C0A5-4727-A0B6-6C47C031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See constraints early</a:t>
            </a:r>
          </a:p>
        </p:txBody>
      </p:sp>
      <p:sp>
        <p:nvSpPr>
          <p:cNvPr id="11" name="priority-copy-0">
            <a:extLst xmlns:a="http://schemas.openxmlformats.org/drawingml/2006/main">
              <a:ext uri="{FF2B5EF4-FFF2-40B4-BE49-F238E27FC236}">
                <a16:creationId xmlns:a16="http://schemas.microsoft.com/office/drawing/2014/main" id="{3A21F892-EF05-4974-83E8-F347E8B1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</a:defRPr>
            </a:pPr>
            <a:r>
              <a:rPr sz="1425" b="0" i="0">
                <a:solidFill>
                  <a:srgbClr val="5F6670"/>
                </a:solidFill>
              </a:rPr>
              <a:t>Telemetry, asset state, and shared operating picture</a:t>
            </a:r>
          </a:p>
        </p:txBody>
      </p:sp>
      <p:sp>
        <p:nvSpPr>
          <p:cNvPr id="12" name="priority-node-1">
            <a:extLst xmlns:a="http://schemas.openxmlformats.org/drawingml/2006/main">
              <a:ext uri="{FF2B5EF4-FFF2-40B4-BE49-F238E27FC236}">
                <a16:creationId xmlns:a16="http://schemas.microsoft.com/office/drawing/2014/main" id="{5D75BBDD-6991-4673-B02F-0F4180DB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09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iority-index-1">
            <a:extLst xmlns:a="http://schemas.openxmlformats.org/drawingml/2006/main">
              <a:ext uri="{FF2B5EF4-FFF2-40B4-BE49-F238E27FC236}">
                <a16:creationId xmlns:a16="http://schemas.microsoft.com/office/drawing/2014/main" id="{5AF8B1AF-262C-4665-8385-B26CE71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813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priority-heading-1">
            <a:extLst xmlns:a="http://schemas.openxmlformats.org/drawingml/2006/main">
              <a:ext uri="{FF2B5EF4-FFF2-40B4-BE49-F238E27FC236}">
                <a16:creationId xmlns:a16="http://schemas.microsoft.com/office/drawing/2014/main" id="{2523606E-E6C7-4448-891E-F0C8552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383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9C5A00"/>
                </a:solidFill>
              </a:defRPr>
            </a:pPr>
            <a:r>
              <a:rPr sz="2550" b="1" i="0">
                <a:solidFill>
                  <a:srgbClr val="9C5A00"/>
                </a:solidFill>
              </a:rPr>
              <a:t>Flexibility</a:t>
            </a:r>
          </a:p>
        </p:txBody>
      </p:sp>
      <p:sp>
        <p:nvSpPr>
          <p:cNvPr id="15" name="priority-claim-1">
            <a:extLst xmlns:a="http://schemas.openxmlformats.org/drawingml/2006/main">
              <a:ext uri="{FF2B5EF4-FFF2-40B4-BE49-F238E27FC236}">
                <a16:creationId xmlns:a16="http://schemas.microsoft.com/office/drawing/2014/main" id="{695A2A32-2AD8-4F34-95FE-5AAA7F4B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Act before limits bind</a:t>
            </a:r>
          </a:p>
        </p:txBody>
      </p:sp>
      <p:sp>
        <p:nvSpPr>
          <p:cNvPr id="16" name="priority-copy-1">
            <a:extLst xmlns:a="http://schemas.openxmlformats.org/drawingml/2006/main">
              <a:ext uri="{FF2B5EF4-FFF2-40B4-BE49-F238E27FC236}">
                <a16:creationId xmlns:a16="http://schemas.microsoft.com/office/drawing/2014/main" id="{0C952890-05E0-49BD-9D16-2B2CBEE4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</a:defRPr>
            </a:pPr>
            <a:r>
              <a:rPr sz="1425" b="0" i="0">
                <a:solidFill>
                  <a:srgbClr val="5F6670"/>
                </a:solidFill>
              </a:rPr>
              <a:t>Demand response, storage, and adaptive control</a:t>
            </a:r>
          </a:p>
        </p:txBody>
      </p:sp>
      <p:sp>
        <p:nvSpPr>
          <p:cNvPr id="17" name="priority-node-2">
            <a:extLst xmlns:a="http://schemas.openxmlformats.org/drawingml/2006/main">
              <a:ext uri="{FF2B5EF4-FFF2-40B4-BE49-F238E27FC236}">
                <a16:creationId xmlns:a16="http://schemas.microsoft.com/office/drawing/2014/main" id="{D205BC12-8FC2-4E5A-830A-0CC458EC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iority-index-2">
            <a:extLst xmlns:a="http://schemas.openxmlformats.org/drawingml/2006/main">
              <a:ext uri="{FF2B5EF4-FFF2-40B4-BE49-F238E27FC236}">
                <a16:creationId xmlns:a16="http://schemas.microsoft.com/office/drawing/2014/main" id="{71132808-68EA-4579-B958-E6F1A89A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813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priority-heading-2">
            <a:extLst xmlns:a="http://schemas.openxmlformats.org/drawingml/2006/main">
              <a:ext uri="{FF2B5EF4-FFF2-40B4-BE49-F238E27FC236}">
                <a16:creationId xmlns:a16="http://schemas.microsoft.com/office/drawing/2014/main" id="{04BC1788-A1DC-4D3A-974E-F9983A6B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33C6C"/>
                </a:solidFill>
              </a:defRPr>
            </a:pPr>
            <a:r>
              <a:rPr sz="2550" b="1" i="0">
                <a:solidFill>
                  <a:srgbClr val="A33C6C"/>
                </a:solidFill>
              </a:rPr>
              <a:t>Resilience</a:t>
            </a:r>
          </a:p>
        </p:txBody>
      </p:sp>
      <p:sp>
        <p:nvSpPr>
          <p:cNvPr id="20" name="priority-claim-2">
            <a:extLst xmlns:a="http://schemas.openxmlformats.org/drawingml/2006/main">
              <a:ext uri="{FF2B5EF4-FFF2-40B4-BE49-F238E27FC236}">
                <a16:creationId xmlns:a16="http://schemas.microsoft.com/office/drawing/2014/main" id="{D93336C6-B619-4597-A4F1-EAAC7AB6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Limit disruption impact</a:t>
            </a:r>
          </a:p>
        </p:txBody>
      </p:sp>
      <p:sp>
        <p:nvSpPr>
          <p:cNvPr id="21" name="priority-copy-2">
            <a:extLst xmlns:a="http://schemas.openxmlformats.org/drawingml/2006/main">
              <a:ext uri="{FF2B5EF4-FFF2-40B4-BE49-F238E27FC236}">
                <a16:creationId xmlns:a16="http://schemas.microsoft.com/office/drawing/2014/main" id="{11AAEADA-22D4-4AFC-90D0-5C9BFA89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</a:defRPr>
            </a:pPr>
            <a:r>
              <a:rPr sz="1425" b="0" i="0">
                <a:solidFill>
                  <a:srgbClr val="5F6670"/>
                </a:solidFill>
              </a:rPr>
              <a:t>Hardening, sectionalization, and recovery discipline</a:t>
            </a:r>
          </a:p>
        </p:txBody>
      </p:sp>
      <p:sp>
        <p:nvSpPr>
          <p:cNvPr id="22" name="priority-sequence">
            <a:extLst xmlns:a="http://schemas.openxmlformats.org/drawingml/2006/main">
              <a:ext uri="{FF2B5EF4-FFF2-40B4-BE49-F238E27FC236}">
                <a16:creationId xmlns:a16="http://schemas.microsoft.com/office/drawing/2014/main" id="{6B5D3817-6E62-4D08-9557-5ED78C18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Visibility enables informed control  →  Flexibility absorbs variability  →  Resilience limits consequences</a:t>
            </a:r>
          </a:p>
        </p:txBody>
      </p:sp>
    </p:spTree>
    <p:extLst>
      <p:ext uri="{BB962C8B-B14F-4D97-AF65-F5344CB8AC3E}">
        <p14:creationId xmlns:p14="http://schemas.microsoft.com/office/powerpoint/2010/main" val="1973624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ection-5">
            <a:extLst xmlns:a="http://schemas.openxmlformats.org/drawingml/2006/main">
              <a:ext uri="{FF2B5EF4-FFF2-40B4-BE49-F238E27FC236}">
                <a16:creationId xmlns:a16="http://schemas.microsoft.com/office/drawing/2014/main" id="{61023C41-3193-4DA2-9FD0-341D3992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670"/>
                </a:solidFill>
              </a:defRPr>
            </a:pPr>
            <a:r>
              <a:rPr sz="1125" b="1" i="0">
                <a:solidFill>
                  <a:srgbClr val="5F6670"/>
                </a:solidFill>
              </a:rPr>
              <a:t>05 / PORTFOLIO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09F987C-221B-494D-81E3-EC83DF3C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</a:defRPr>
            </a:pPr>
            <a:r>
              <a:rPr sz="3600" b="1" i="0">
                <a:solidFill>
                  <a:srgbClr val="111827"/>
                </a:solidFill>
              </a:rPr>
              <a:t>Balanced staging preserves all three capabilities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4690BDB5-1D38-4088-BDF0-E772A103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label-5">
            <a:extLst xmlns:a="http://schemas.openxmlformats.org/drawingml/2006/main">
              <a:ext uri="{FF2B5EF4-FFF2-40B4-BE49-F238E27FC236}">
                <a16:creationId xmlns:a16="http://schemas.microsoft.com/office/drawing/2014/main" id="{2CC622DD-85EB-4C13-ACF9-0B1BB5D9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Illustrative planning scenario — not a forecast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57E14B0D-9A08-40BE-8F9B-683DE7E1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05</a:t>
            </a:r>
          </a:p>
        </p:txBody>
      </p:sp>
      <p:sp>
        <p:nvSpPr>
          <p:cNvPr id="6" name="portfolio-axis-0">
            <a:extLst xmlns:a="http://schemas.openxmlformats.org/drawingml/2006/main">
              <a:ext uri="{FF2B5EF4-FFF2-40B4-BE49-F238E27FC236}">
                <a16:creationId xmlns:a16="http://schemas.microsoft.com/office/drawing/2014/main" id="{C9152291-14D4-46A4-8A78-8ADCECB2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28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265D5"/>
                </a:solidFill>
              </a:defRPr>
            </a:pPr>
            <a:r>
              <a:rPr sz="1275" b="1" i="0">
                <a:solidFill>
                  <a:srgbClr val="3265D5"/>
                </a:solidFill>
              </a:rPr>
              <a:t>Visibility</a:t>
            </a:r>
          </a:p>
        </p:txBody>
      </p:sp>
      <p:sp>
        <p:nvSpPr>
          <p:cNvPr id="7" name="portfolio-axis-1">
            <a:extLst xmlns:a="http://schemas.openxmlformats.org/drawingml/2006/main">
              <a:ext uri="{FF2B5EF4-FFF2-40B4-BE49-F238E27FC236}">
                <a16:creationId xmlns:a16="http://schemas.microsoft.com/office/drawing/2014/main" id="{A4B62F94-ABA6-4185-86CC-93BFB127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9C5A00"/>
                </a:solidFill>
              </a:defRPr>
            </a:pPr>
            <a:r>
              <a:rPr sz="1275" b="1" i="0">
                <a:solidFill>
                  <a:srgbClr val="9C5A00"/>
                </a:solidFill>
              </a:rPr>
              <a:t>Flexibility</a:t>
            </a:r>
          </a:p>
        </p:txBody>
      </p:sp>
      <p:sp>
        <p:nvSpPr>
          <p:cNvPr id="8" name="portfolio-axis-2">
            <a:extLst xmlns:a="http://schemas.openxmlformats.org/drawingml/2006/main">
              <a:ext uri="{FF2B5EF4-FFF2-40B4-BE49-F238E27FC236}">
                <a16:creationId xmlns:a16="http://schemas.microsoft.com/office/drawing/2014/main" id="{0A6ADEB5-B03C-4BAC-ABAA-6FD99A50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828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33C6C"/>
                </a:solidFill>
              </a:defRPr>
            </a:pPr>
            <a:r>
              <a:rPr sz="1275" b="1" i="0">
                <a:solidFill>
                  <a:srgbClr val="A33C6C"/>
                </a:solidFill>
              </a:rPr>
              <a:t>Resilience</a:t>
            </a:r>
          </a:p>
        </p:txBody>
      </p:sp>
      <p:sp>
        <p:nvSpPr>
          <p:cNvPr id="9" name="portfolio-name-0">
            <a:extLst xmlns:a="http://schemas.openxmlformats.org/drawingml/2006/main">
              <a:ext uri="{FF2B5EF4-FFF2-40B4-BE49-F238E27FC236}">
                <a16:creationId xmlns:a16="http://schemas.microsoft.com/office/drawing/2014/main" id="{CC208C37-39D4-488F-9E19-E5F24AFB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Patchwork renewals</a:t>
            </a:r>
          </a:p>
        </p:txBody>
      </p:sp>
      <p:sp>
        <p:nvSpPr>
          <p:cNvPr id="10" name="portfolio-copy-0">
            <a:extLst xmlns:a="http://schemas.openxmlformats.org/drawingml/2006/main">
              <a:ext uri="{FF2B5EF4-FFF2-40B4-BE49-F238E27FC236}">
                <a16:creationId xmlns:a16="http://schemas.microsoft.com/office/drawing/2014/main" id="{A29B9B70-698E-4CDF-AA2B-EB51FAA3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670"/>
                </a:solidFill>
              </a:defRPr>
            </a:pPr>
            <a:r>
              <a:rPr sz="1350" b="0" i="0">
                <a:solidFill>
                  <a:srgbClr val="5F6670"/>
                </a:solidFill>
              </a:rPr>
              <a:t>Low near-term disruption</a:t>
            </a:r>
          </a:p>
        </p:txBody>
      </p:sp>
      <p:sp>
        <p:nvSpPr>
          <p:cNvPr id="11" name="score-0-0-0">
            <a:extLst xmlns:a="http://schemas.openxmlformats.org/drawingml/2006/main">
              <a:ext uri="{FF2B5EF4-FFF2-40B4-BE49-F238E27FC236}">
                <a16:creationId xmlns:a16="http://schemas.microsoft.com/office/drawing/2014/main" id="{D0C2909B-D3FB-4135-8350-FF244BC5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ore-0-0-1">
            <a:extLst xmlns:a="http://schemas.openxmlformats.org/drawingml/2006/main">
              <a:ext uri="{FF2B5EF4-FFF2-40B4-BE49-F238E27FC236}">
                <a16:creationId xmlns:a16="http://schemas.microsoft.com/office/drawing/2014/main" id="{E58966B0-4A74-4D48-A86C-6D50234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ore-0-0-2">
            <a:extLst xmlns:a="http://schemas.openxmlformats.org/drawingml/2006/main">
              <a:ext uri="{FF2B5EF4-FFF2-40B4-BE49-F238E27FC236}">
                <a16:creationId xmlns:a16="http://schemas.microsoft.com/office/drawing/2014/main" id="{B2C4513B-4CAE-4937-B9A5-C125B0F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ore-0-1-0">
            <a:extLst xmlns:a="http://schemas.openxmlformats.org/drawingml/2006/main">
              <a:ext uri="{FF2B5EF4-FFF2-40B4-BE49-F238E27FC236}">
                <a16:creationId xmlns:a16="http://schemas.microsoft.com/office/drawing/2014/main" id="{9A488569-AAAD-4624-9612-EF6682DE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ore-0-1-1">
            <a:extLst xmlns:a="http://schemas.openxmlformats.org/drawingml/2006/main">
              <a:ext uri="{FF2B5EF4-FFF2-40B4-BE49-F238E27FC236}">
                <a16:creationId xmlns:a16="http://schemas.microsoft.com/office/drawing/2014/main" id="{8A498C35-EECD-4772-BBA1-6B806E12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ore-0-1-2">
            <a:extLst xmlns:a="http://schemas.openxmlformats.org/drawingml/2006/main">
              <a:ext uri="{FF2B5EF4-FFF2-40B4-BE49-F238E27FC236}">
                <a16:creationId xmlns:a16="http://schemas.microsoft.com/office/drawing/2014/main" id="{15039ED4-49C7-42A8-A2A1-A791834C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ore-0-2-0">
            <a:extLst xmlns:a="http://schemas.openxmlformats.org/drawingml/2006/main">
              <a:ext uri="{FF2B5EF4-FFF2-40B4-BE49-F238E27FC236}">
                <a16:creationId xmlns:a16="http://schemas.microsoft.com/office/drawing/2014/main" id="{86899004-1816-49ED-B44C-2E528017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ore-0-2-1">
            <a:extLst xmlns:a="http://schemas.openxmlformats.org/drawingml/2006/main">
              <a:ext uri="{FF2B5EF4-FFF2-40B4-BE49-F238E27FC236}">
                <a16:creationId xmlns:a16="http://schemas.microsoft.com/office/drawing/2014/main" id="{E0D48934-EE73-406F-96B8-B8EEAAB6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ore-0-2-2">
            <a:extLst xmlns:a="http://schemas.openxmlformats.org/drawingml/2006/main">
              <a:ext uri="{FF2B5EF4-FFF2-40B4-BE49-F238E27FC236}">
                <a16:creationId xmlns:a16="http://schemas.microsoft.com/office/drawing/2014/main" id="{9E868E7D-5376-465D-8FDE-AAB9096D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ortfolio-verdict-0">
            <a:extLst xmlns:a="http://schemas.openxmlformats.org/drawingml/2006/main">
              <a:ext uri="{FF2B5EF4-FFF2-40B4-BE49-F238E27FC236}">
                <a16:creationId xmlns:a16="http://schemas.microsoft.com/office/drawing/2014/main" id="{B7C12B61-DFDF-4551-9004-D1477708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5F6670"/>
                </a:solidFill>
              </a:defRPr>
            </a:pPr>
            <a:r>
              <a:rPr sz="1350" b="1" i="0">
                <a:solidFill>
                  <a:srgbClr val="5F6670"/>
                </a:solidFill>
              </a:rPr>
              <a:t>Leaves systemic gaps</a:t>
            </a:r>
          </a:p>
        </p:txBody>
      </p:sp>
      <p:sp>
        <p:nvSpPr>
          <p:cNvPr id="21" name="portfolio-rule-0">
            <a:extLst xmlns:a="http://schemas.openxmlformats.org/drawingml/2006/main">
              <a:ext uri="{FF2B5EF4-FFF2-40B4-BE49-F238E27FC236}">
                <a16:creationId xmlns:a16="http://schemas.microsoft.com/office/drawing/2014/main" id="{59D6D49C-FBA0-4885-A4F1-EC958B2B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ortfolio-name-1">
            <a:extLst xmlns:a="http://schemas.openxmlformats.org/drawingml/2006/main">
              <a:ext uri="{FF2B5EF4-FFF2-40B4-BE49-F238E27FC236}">
                <a16:creationId xmlns:a16="http://schemas.microsoft.com/office/drawing/2014/main" id="{B451C07C-AA0F-4A1F-99AA-70158E53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827"/>
                </a:solidFill>
              </a:defRPr>
            </a:pPr>
            <a:r>
              <a:rPr sz="1950" b="1" i="0">
                <a:solidFill>
                  <a:srgbClr val="111827"/>
                </a:solidFill>
              </a:rPr>
              <a:t>Resilience-first</a:t>
            </a:r>
          </a:p>
        </p:txBody>
      </p:sp>
      <p:sp>
        <p:nvSpPr>
          <p:cNvPr id="23" name="portfolio-copy-1">
            <a:extLst xmlns:a="http://schemas.openxmlformats.org/drawingml/2006/main">
              <a:ext uri="{FF2B5EF4-FFF2-40B4-BE49-F238E27FC236}">
                <a16:creationId xmlns:a16="http://schemas.microsoft.com/office/drawing/2014/main" id="{2432716E-22BE-460E-A890-DC9CA5F2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670"/>
                </a:solidFill>
              </a:defRPr>
            </a:pPr>
            <a:r>
              <a:rPr sz="1350" b="0" i="0">
                <a:solidFill>
                  <a:srgbClr val="5F6670"/>
                </a:solidFill>
              </a:rPr>
              <a:t>Hardens critical assets</a:t>
            </a:r>
          </a:p>
        </p:txBody>
      </p:sp>
      <p:sp>
        <p:nvSpPr>
          <p:cNvPr id="24" name="score-1-0-0">
            <a:extLst xmlns:a="http://schemas.openxmlformats.org/drawingml/2006/main">
              <a:ext uri="{FF2B5EF4-FFF2-40B4-BE49-F238E27FC236}">
                <a16:creationId xmlns:a16="http://schemas.microsoft.com/office/drawing/2014/main" id="{EEF00805-0528-43B0-A87E-DADBDA16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ore-1-0-1">
            <a:extLst xmlns:a="http://schemas.openxmlformats.org/drawingml/2006/main">
              <a:ext uri="{FF2B5EF4-FFF2-40B4-BE49-F238E27FC236}">
                <a16:creationId xmlns:a16="http://schemas.microsoft.com/office/drawing/2014/main" id="{675FDF78-1227-4139-A9CC-B60CD5F0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ore-1-0-2">
            <a:extLst xmlns:a="http://schemas.openxmlformats.org/drawingml/2006/main">
              <a:ext uri="{FF2B5EF4-FFF2-40B4-BE49-F238E27FC236}">
                <a16:creationId xmlns:a16="http://schemas.microsoft.com/office/drawing/2014/main" id="{082AC2B8-C36D-4C6C-81B9-1D19E9A6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ore-1-1-0">
            <a:extLst xmlns:a="http://schemas.openxmlformats.org/drawingml/2006/main">
              <a:ext uri="{FF2B5EF4-FFF2-40B4-BE49-F238E27FC236}">
                <a16:creationId xmlns:a16="http://schemas.microsoft.com/office/drawing/2014/main" id="{BAC9F252-B973-4075-B706-4BECD06F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ore-1-1-1">
            <a:extLst xmlns:a="http://schemas.openxmlformats.org/drawingml/2006/main">
              <a:ext uri="{FF2B5EF4-FFF2-40B4-BE49-F238E27FC236}">
                <a16:creationId xmlns:a16="http://schemas.microsoft.com/office/drawing/2014/main" id="{3513ADB6-690D-41EB-A4E4-C0C50664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ore-1-1-2">
            <a:extLst xmlns:a="http://schemas.openxmlformats.org/drawingml/2006/main">
              <a:ext uri="{FF2B5EF4-FFF2-40B4-BE49-F238E27FC236}">
                <a16:creationId xmlns:a16="http://schemas.microsoft.com/office/drawing/2014/main" id="{CF552459-5477-4A3E-80CC-B55BA9EF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core-1-2-0">
            <a:extLst xmlns:a="http://schemas.openxmlformats.org/drawingml/2006/main">
              <a:ext uri="{FF2B5EF4-FFF2-40B4-BE49-F238E27FC236}">
                <a16:creationId xmlns:a16="http://schemas.microsoft.com/office/drawing/2014/main" id="{E597C02D-E718-45C0-AA99-2255E87A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core-1-2-1">
            <a:extLst xmlns:a="http://schemas.openxmlformats.org/drawingml/2006/main">
              <a:ext uri="{FF2B5EF4-FFF2-40B4-BE49-F238E27FC236}">
                <a16:creationId xmlns:a16="http://schemas.microsoft.com/office/drawing/2014/main" id="{A0D7610C-D437-4796-8C29-6368B8EF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ore-1-2-2">
            <a:extLst xmlns:a="http://schemas.openxmlformats.org/drawingml/2006/main">
              <a:ext uri="{FF2B5EF4-FFF2-40B4-BE49-F238E27FC236}">
                <a16:creationId xmlns:a16="http://schemas.microsoft.com/office/drawing/2014/main" id="{71DAA1A0-3E7E-4C29-994D-1FD9B006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ortfolio-verdict-1">
            <a:extLst xmlns:a="http://schemas.openxmlformats.org/drawingml/2006/main">
              <a:ext uri="{FF2B5EF4-FFF2-40B4-BE49-F238E27FC236}">
                <a16:creationId xmlns:a16="http://schemas.microsoft.com/office/drawing/2014/main" id="{F969CDCD-0204-4F25-8223-120C2345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5F6670"/>
                </a:solidFill>
              </a:defRPr>
            </a:pPr>
            <a:r>
              <a:rPr sz="1350" b="1" i="0">
                <a:solidFill>
                  <a:srgbClr val="5F6670"/>
                </a:solidFill>
              </a:rPr>
              <a:t>Delays informed flexibility</a:t>
            </a:r>
          </a:p>
        </p:txBody>
      </p:sp>
      <p:sp>
        <p:nvSpPr>
          <p:cNvPr id="34" name="portfolio-rule-1">
            <a:extLst xmlns:a="http://schemas.openxmlformats.org/drawingml/2006/main">
              <a:ext uri="{FF2B5EF4-FFF2-40B4-BE49-F238E27FC236}">
                <a16:creationId xmlns:a16="http://schemas.microsoft.com/office/drawing/2014/main" id="{4448D064-B70C-44F2-B470-75F7CEB9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commended-plane">
            <a:extLst xmlns:a="http://schemas.openxmlformats.org/drawingml/2006/main">
              <a:ext uri="{FF2B5EF4-FFF2-40B4-BE49-F238E27FC236}">
                <a16:creationId xmlns:a16="http://schemas.microsoft.com/office/drawing/2014/main" id="{1B177136-F72D-4812-BD9B-AF8082A8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066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ortfolio-name-2">
            <a:extLst xmlns:a="http://schemas.openxmlformats.org/drawingml/2006/main">
              <a:ext uri="{FF2B5EF4-FFF2-40B4-BE49-F238E27FC236}">
                <a16:creationId xmlns:a16="http://schemas.microsoft.com/office/drawing/2014/main" id="{04F03A28-F2F6-4FCE-8E64-B448529C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67A5A"/>
                </a:solidFill>
              </a:defRPr>
            </a:pPr>
            <a:r>
              <a:rPr sz="1950" b="1" i="0">
                <a:solidFill>
                  <a:srgbClr val="167A5A"/>
                </a:solidFill>
              </a:rPr>
              <a:t>Balanced staged</a:t>
            </a:r>
          </a:p>
        </p:txBody>
      </p:sp>
      <p:sp>
        <p:nvSpPr>
          <p:cNvPr id="37" name="portfolio-copy-2">
            <a:extLst xmlns:a="http://schemas.openxmlformats.org/drawingml/2006/main">
              <a:ext uri="{FF2B5EF4-FFF2-40B4-BE49-F238E27FC236}">
                <a16:creationId xmlns:a16="http://schemas.microsoft.com/office/drawing/2014/main" id="{80CB5721-43B6-460B-BB3E-241AF1D2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670"/>
                </a:solidFill>
              </a:defRPr>
            </a:pPr>
            <a:r>
              <a:rPr sz="1350" b="0" i="0">
                <a:solidFill>
                  <a:srgbClr val="5F6670"/>
                </a:solidFill>
              </a:rPr>
              <a:t>Builds, scales, then hardens</a:t>
            </a:r>
          </a:p>
        </p:txBody>
      </p:sp>
      <p:sp>
        <p:nvSpPr>
          <p:cNvPr id="38" name="score-2-0-0">
            <a:extLst xmlns:a="http://schemas.openxmlformats.org/drawingml/2006/main">
              <a:ext uri="{FF2B5EF4-FFF2-40B4-BE49-F238E27FC236}">
                <a16:creationId xmlns:a16="http://schemas.microsoft.com/office/drawing/2014/main" id="{ECE39BFF-A56B-4E53-AD67-E370D14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ore-2-0-1">
            <a:extLst xmlns:a="http://schemas.openxmlformats.org/drawingml/2006/main">
              <a:ext uri="{FF2B5EF4-FFF2-40B4-BE49-F238E27FC236}">
                <a16:creationId xmlns:a16="http://schemas.microsoft.com/office/drawing/2014/main" id="{B2AF7486-23C9-4EA0-866E-993A3491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ore-2-0-2">
            <a:extLst xmlns:a="http://schemas.openxmlformats.org/drawingml/2006/main">
              <a:ext uri="{FF2B5EF4-FFF2-40B4-BE49-F238E27FC236}">
                <a16:creationId xmlns:a16="http://schemas.microsoft.com/office/drawing/2014/main" id="{B812B717-7B57-4580-8913-C73E868B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ore-2-1-0">
            <a:extLst xmlns:a="http://schemas.openxmlformats.org/drawingml/2006/main">
              <a:ext uri="{FF2B5EF4-FFF2-40B4-BE49-F238E27FC236}">
                <a16:creationId xmlns:a16="http://schemas.microsoft.com/office/drawing/2014/main" id="{8B5BD725-9A71-4B50-BDC3-7C9B5FBF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ore-2-1-1">
            <a:extLst xmlns:a="http://schemas.openxmlformats.org/drawingml/2006/main">
              <a:ext uri="{FF2B5EF4-FFF2-40B4-BE49-F238E27FC236}">
                <a16:creationId xmlns:a16="http://schemas.microsoft.com/office/drawing/2014/main" id="{8E6B34A7-2348-4F4A-B36D-BAA81564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ore-2-1-2">
            <a:extLst xmlns:a="http://schemas.openxmlformats.org/drawingml/2006/main">
              <a:ext uri="{FF2B5EF4-FFF2-40B4-BE49-F238E27FC236}">
                <a16:creationId xmlns:a16="http://schemas.microsoft.com/office/drawing/2014/main" id="{0A992A5F-35DA-4B42-81E7-35D588D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ore-2-2-0">
            <a:extLst xmlns:a="http://schemas.openxmlformats.org/drawingml/2006/main">
              <a:ext uri="{FF2B5EF4-FFF2-40B4-BE49-F238E27FC236}">
                <a16:creationId xmlns:a16="http://schemas.microsoft.com/office/drawing/2014/main" id="{5DC0E91D-DDFE-4530-83CF-2EDB5E10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ore-2-2-1">
            <a:extLst xmlns:a="http://schemas.openxmlformats.org/drawingml/2006/main">
              <a:ext uri="{FF2B5EF4-FFF2-40B4-BE49-F238E27FC236}">
                <a16:creationId xmlns:a16="http://schemas.microsoft.com/office/drawing/2014/main" id="{18A2D266-3047-4731-881E-A0BF5EC9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ore-2-2-2">
            <a:extLst xmlns:a="http://schemas.openxmlformats.org/drawingml/2006/main">
              <a:ext uri="{FF2B5EF4-FFF2-40B4-BE49-F238E27FC236}">
                <a16:creationId xmlns:a16="http://schemas.microsoft.com/office/drawing/2014/main" id="{7EB1A6F5-5B7A-4E2F-9EC0-F91D72FE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72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ortfolio-verdict-2">
            <a:extLst xmlns:a="http://schemas.openxmlformats.org/drawingml/2006/main">
              <a:ext uri="{FF2B5EF4-FFF2-40B4-BE49-F238E27FC236}">
                <a16:creationId xmlns:a16="http://schemas.microsoft.com/office/drawing/2014/main" id="{C651D834-B632-476F-9B40-EF129172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33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67A5A"/>
                </a:solidFill>
              </a:defRPr>
            </a:pPr>
            <a:r>
              <a:rPr sz="1350" b="1" i="0">
                <a:solidFill>
                  <a:srgbClr val="167A5A"/>
                </a:solidFill>
              </a:rPr>
              <a:t>RECOMMENDED</a:t>
            </a:r>
          </a:p>
        </p:txBody>
      </p:sp>
      <p:sp>
        <p:nvSpPr>
          <p:cNvPr id="48" name="portfolio-rule-2">
            <a:extLst xmlns:a="http://schemas.openxmlformats.org/drawingml/2006/main">
              <a:ext uri="{FF2B5EF4-FFF2-40B4-BE49-F238E27FC236}">
                <a16:creationId xmlns:a16="http://schemas.microsoft.com/office/drawing/2014/main" id="{3FAF4231-0395-40F9-8D5B-4F1E8FF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29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0516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6">
            <a:extLst xmlns:a="http://schemas.openxmlformats.org/drawingml/2006/main">
              <a:ext uri="{FF2B5EF4-FFF2-40B4-BE49-F238E27FC236}">
                <a16:creationId xmlns:a16="http://schemas.microsoft.com/office/drawing/2014/main" id="{101661DF-DBC8-4B76-9173-0FEC3645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670"/>
                </a:solidFill>
              </a:defRPr>
            </a:pPr>
            <a:r>
              <a:rPr sz="1125" b="1" i="0">
                <a:solidFill>
                  <a:srgbClr val="5F6670"/>
                </a:solidFill>
              </a:rPr>
              <a:t>06 / ROADMAP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9FC375F-EC80-496C-A9D5-038283FA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</a:defRPr>
            </a:pPr>
            <a:r>
              <a:rPr sz="3600" b="1" i="0">
                <a:solidFill>
                  <a:srgbClr val="111827"/>
                </a:solidFill>
              </a:rPr>
              <a:t>Foundations precede scale; scale precedes hardening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416FF161-F16B-4485-B17E-7B6E528E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label-6">
            <a:extLst xmlns:a="http://schemas.openxmlformats.org/drawingml/2006/main">
              <a:ext uri="{FF2B5EF4-FFF2-40B4-BE49-F238E27FC236}">
                <a16:creationId xmlns:a16="http://schemas.microsoft.com/office/drawing/2014/main" id="{75EE7F6A-DF73-4D28-98D7-2D58805B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Illustrative planning scenario — not a forecast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9B6F0B29-AB22-4935-9765-F4E8067F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06</a:t>
            </a:r>
          </a:p>
        </p:txBody>
      </p:sp>
      <p:sp>
        <p:nvSpPr>
          <p:cNvPr id="6" name="roadmap-years-0">
            <a:extLst xmlns:a="http://schemas.openxmlformats.org/drawingml/2006/main">
              <a:ext uri="{FF2B5EF4-FFF2-40B4-BE49-F238E27FC236}">
                <a16:creationId xmlns:a16="http://schemas.microsoft.com/office/drawing/2014/main" id="{FC43E0C8-4EB8-4A4F-AA77-78596056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265D5"/>
                </a:solidFill>
              </a:defRPr>
            </a:pPr>
            <a:r>
              <a:rPr sz="2550" b="1" i="0">
                <a:solidFill>
                  <a:srgbClr val="3265D5"/>
                </a:solidFill>
              </a:rPr>
              <a:t>2026–27</a:t>
            </a:r>
          </a:p>
        </p:txBody>
      </p:sp>
      <p:sp>
        <p:nvSpPr>
          <p:cNvPr id="7" name="roadmap-phase-rule-0">
            <a:extLst xmlns:a="http://schemas.openxmlformats.org/drawingml/2006/main">
              <a:ext uri="{FF2B5EF4-FFF2-40B4-BE49-F238E27FC236}">
                <a16:creationId xmlns:a16="http://schemas.microsoft.com/office/drawing/2014/main" id="{48077717-BCFA-4BBC-A6F1-FDC3C5EE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5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heading-0">
            <a:extLst xmlns:a="http://schemas.openxmlformats.org/drawingml/2006/main">
              <a:ext uri="{FF2B5EF4-FFF2-40B4-BE49-F238E27FC236}">
                <a16:creationId xmlns:a16="http://schemas.microsoft.com/office/drawing/2014/main" id="{4AE24946-7099-461B-AB55-3D77768B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FOUNDATIONS</a:t>
            </a:r>
          </a:p>
        </p:txBody>
      </p:sp>
      <p:sp>
        <p:nvSpPr>
          <p:cNvPr id="9" name="roadmap-copy-0">
            <a:extLst xmlns:a="http://schemas.openxmlformats.org/drawingml/2006/main">
              <a:ext uri="{FF2B5EF4-FFF2-40B4-BE49-F238E27FC236}">
                <a16:creationId xmlns:a16="http://schemas.microsoft.com/office/drawing/2014/main" id="{307AC632-5AF0-4C57-9A76-73F3246B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670"/>
                </a:solidFill>
              </a:defRPr>
            </a:pPr>
            <a:r>
              <a:rPr sz="1575" b="0" i="0">
                <a:solidFill>
                  <a:srgbClr val="5F6670"/>
                </a:solidFill>
              </a:rPr>
              <a:t>Instrument critical assets</a:t>
            </a:r>
          </a:p>
          <a:p xmlns:a="http://schemas.openxmlformats.org/drawingml/2006/main">
            <a:pPr algn="l">
              <a:defRPr sz="1575" b="0" i="0">
                <a:solidFill>
                  <a:srgbClr val="5F6670"/>
                </a:solidFill>
              </a:defRPr>
            </a:pPr>
            <a:r>
              <a:rPr sz="1575" b="0" i="0">
                <a:solidFill>
                  <a:srgbClr val="5F6670"/>
                </a:solidFill>
              </a:rPr>
              <a:t>Unify operating data</a:t>
            </a:r>
          </a:p>
          <a:p xmlns:a="http://schemas.openxmlformats.org/drawingml/2006/main">
            <a:pPr algn="l">
              <a:defRPr sz="1575" b="0" i="0">
                <a:solidFill>
                  <a:srgbClr val="5F6670"/>
                </a:solidFill>
              </a:defRPr>
            </a:pPr>
            <a:r>
              <a:rPr sz="1575" b="0" i="0">
                <a:solidFill>
                  <a:srgbClr val="5F6670"/>
                </a:solidFill>
              </a:rPr>
              <a:t>Prove control loops</a:t>
            </a:r>
          </a:p>
        </p:txBody>
      </p:sp>
      <p:sp>
        <p:nvSpPr>
          <p:cNvPr id="10" name="roadmap-years-1">
            <a:extLst xmlns:a="http://schemas.openxmlformats.org/drawingml/2006/main">
              <a:ext uri="{FF2B5EF4-FFF2-40B4-BE49-F238E27FC236}">
                <a16:creationId xmlns:a16="http://schemas.microsoft.com/office/drawing/2014/main" id="{6E906877-237C-46AA-8F94-5C8729CA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9C5A00"/>
                </a:solidFill>
              </a:defRPr>
            </a:pPr>
            <a:r>
              <a:rPr sz="2550" b="1" i="0">
                <a:solidFill>
                  <a:srgbClr val="9C5A00"/>
                </a:solidFill>
              </a:rPr>
              <a:t>2028–29</a:t>
            </a:r>
          </a:p>
        </p:txBody>
      </p:sp>
      <p:sp>
        <p:nvSpPr>
          <p:cNvPr id="11" name="roadmap-phase-rule-1">
            <a:extLst xmlns:a="http://schemas.openxmlformats.org/drawingml/2006/main">
              <a:ext uri="{FF2B5EF4-FFF2-40B4-BE49-F238E27FC236}">
                <a16:creationId xmlns:a16="http://schemas.microsoft.com/office/drawing/2014/main" id="{4EAC8CC0-6E9C-43B5-8BAD-C149EE8F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5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heading-1">
            <a:extLst xmlns:a="http://schemas.openxmlformats.org/drawingml/2006/main">
              <a:ext uri="{FF2B5EF4-FFF2-40B4-BE49-F238E27FC236}">
                <a16:creationId xmlns:a16="http://schemas.microsoft.com/office/drawing/2014/main" id="{83C28E59-2D22-4C09-8533-EEEFFCE5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SCALE FLEXIBILITY</a:t>
            </a:r>
          </a:p>
        </p:txBody>
      </p:sp>
      <p:sp>
        <p:nvSpPr>
          <p:cNvPr id="13" name="roadmap-copy-1">
            <a:extLst xmlns:a="http://schemas.openxmlformats.org/drawingml/2006/main">
              <a:ext uri="{FF2B5EF4-FFF2-40B4-BE49-F238E27FC236}">
                <a16:creationId xmlns:a16="http://schemas.microsoft.com/office/drawing/2014/main" id="{A1D75653-F696-4E3E-9A31-99A5883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670"/>
                </a:solidFill>
              </a:defRPr>
            </a:pPr>
            <a:r>
              <a:rPr sz="1575" b="0" i="0">
                <a:solidFill>
                  <a:srgbClr val="5F6670"/>
                </a:solidFill>
              </a:rPr>
              <a:t>Expand flexible capacity</a:t>
            </a:r>
          </a:p>
          <a:p xmlns:a="http://schemas.openxmlformats.org/drawingml/2006/main">
            <a:pPr algn="l">
              <a:defRPr sz="1575" b="0" i="0">
                <a:solidFill>
                  <a:srgbClr val="5F6670"/>
                </a:solidFill>
              </a:defRPr>
            </a:pPr>
            <a:r>
              <a:rPr sz="1575" b="0" i="0">
                <a:solidFill>
                  <a:srgbClr val="5F6670"/>
                </a:solidFill>
              </a:rPr>
              <a:t>Automate constraints</a:t>
            </a:r>
          </a:p>
          <a:p xmlns:a="http://schemas.openxmlformats.org/drawingml/2006/main">
            <a:pPr algn="l">
              <a:defRPr sz="1575" b="0" i="0">
                <a:solidFill>
                  <a:srgbClr val="5F6670"/>
                </a:solidFill>
              </a:defRPr>
            </a:pPr>
            <a:r>
              <a:rPr sz="1575" b="0" i="0">
                <a:solidFill>
                  <a:srgbClr val="5F6670"/>
                </a:solidFill>
              </a:rPr>
              <a:t>Validate operating value</a:t>
            </a:r>
          </a:p>
        </p:txBody>
      </p:sp>
      <p:sp>
        <p:nvSpPr>
          <p:cNvPr id="14" name="roadmap-years-2">
            <a:extLst xmlns:a="http://schemas.openxmlformats.org/drawingml/2006/main">
              <a:ext uri="{FF2B5EF4-FFF2-40B4-BE49-F238E27FC236}">
                <a16:creationId xmlns:a16="http://schemas.microsoft.com/office/drawing/2014/main" id="{6923714E-F556-4665-ADDA-90A44BF4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33C6C"/>
                </a:solidFill>
              </a:defRPr>
            </a:pPr>
            <a:r>
              <a:rPr sz="2550" b="1" i="0">
                <a:solidFill>
                  <a:srgbClr val="A33C6C"/>
                </a:solidFill>
              </a:rPr>
              <a:t>2030</a:t>
            </a:r>
          </a:p>
        </p:txBody>
      </p:sp>
      <p:sp>
        <p:nvSpPr>
          <p:cNvPr id="15" name="roadmap-phase-rule-2">
            <a:extLst xmlns:a="http://schemas.openxmlformats.org/drawingml/2006/main">
              <a:ext uri="{FF2B5EF4-FFF2-40B4-BE49-F238E27FC236}">
                <a16:creationId xmlns:a16="http://schemas.microsoft.com/office/drawing/2014/main" id="{B9FB4B90-F2BA-4DB4-85C8-F3CD9FF7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admap-heading-2">
            <a:extLst xmlns:a="http://schemas.openxmlformats.org/drawingml/2006/main">
              <a:ext uri="{FF2B5EF4-FFF2-40B4-BE49-F238E27FC236}">
                <a16:creationId xmlns:a16="http://schemas.microsoft.com/office/drawing/2014/main" id="{5D668B1B-BA3A-477F-A461-D5A7EAC0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HARDEN &amp; RECOVER</a:t>
            </a:r>
          </a:p>
        </p:txBody>
      </p:sp>
      <p:sp>
        <p:nvSpPr>
          <p:cNvPr id="17" name="roadmap-copy-2">
            <a:extLst xmlns:a="http://schemas.openxmlformats.org/drawingml/2006/main">
              <a:ext uri="{FF2B5EF4-FFF2-40B4-BE49-F238E27FC236}">
                <a16:creationId xmlns:a16="http://schemas.microsoft.com/office/drawing/2014/main" id="{952CC5B5-E33D-49E3-B652-1E32932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670"/>
                </a:solidFill>
              </a:defRPr>
            </a:pPr>
            <a:r>
              <a:rPr sz="1575" b="0" i="0">
                <a:solidFill>
                  <a:srgbClr val="5F6670"/>
                </a:solidFill>
              </a:rPr>
              <a:t>Target critical exposure</a:t>
            </a:r>
          </a:p>
          <a:p xmlns:a="http://schemas.openxmlformats.org/drawingml/2006/main">
            <a:pPr algn="l">
              <a:defRPr sz="1575" b="0" i="0">
                <a:solidFill>
                  <a:srgbClr val="5F6670"/>
                </a:solidFill>
              </a:defRPr>
            </a:pPr>
            <a:r>
              <a:rPr sz="1575" b="0" i="0">
                <a:solidFill>
                  <a:srgbClr val="5F6670"/>
                </a:solidFill>
              </a:rPr>
              <a:t>Section disruption</a:t>
            </a:r>
          </a:p>
          <a:p xmlns:a="http://schemas.openxmlformats.org/drawingml/2006/main">
            <a:pPr algn="l">
              <a:defRPr sz="1575" b="0" i="0">
                <a:solidFill>
                  <a:srgbClr val="5F6670"/>
                </a:solidFill>
              </a:defRPr>
            </a:pPr>
            <a:r>
              <a:rPr sz="1575" b="0" i="0">
                <a:solidFill>
                  <a:srgbClr val="5F6670"/>
                </a:solidFill>
              </a:rPr>
              <a:t>Exercise recovery</a:t>
            </a:r>
          </a:p>
        </p:txBody>
      </p:sp>
      <p:sp>
        <p:nvSpPr>
          <p:cNvPr id="18" name="roadmap-spine">
            <a:extLst xmlns:a="http://schemas.openxmlformats.org/drawingml/2006/main">
              <a:ext uri="{FF2B5EF4-FFF2-40B4-BE49-F238E27FC236}">
                <a16:creationId xmlns:a16="http://schemas.microsoft.com/office/drawing/2014/main" id="{25A60B1D-A7F2-466F-AD64-33B0E3B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19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admap-gate-0">
            <a:extLst xmlns:a="http://schemas.openxmlformats.org/drawingml/2006/main">
              <a:ext uri="{FF2B5EF4-FFF2-40B4-BE49-F238E27FC236}">
                <a16:creationId xmlns:a16="http://schemas.microsoft.com/office/drawing/2014/main" id="{5F5D870D-716D-46ED-BD52-A0F2F997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95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oadmap-gate-text-0">
            <a:extLst xmlns:a="http://schemas.openxmlformats.org/drawingml/2006/main">
              <a:ext uri="{FF2B5EF4-FFF2-40B4-BE49-F238E27FC236}">
                <a16:creationId xmlns:a16="http://schemas.microsoft.com/office/drawing/2014/main" id="{24C1E432-60E5-45F0-917C-48A2800E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5777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21" name="roadmap-gate-copy-0">
            <a:extLst xmlns:a="http://schemas.openxmlformats.org/drawingml/2006/main">
              <a:ext uri="{FF2B5EF4-FFF2-40B4-BE49-F238E27FC236}">
                <a16:creationId xmlns:a16="http://schemas.microsoft.com/office/drawing/2014/main" id="{0C38515B-6F81-4C03-9C5C-CDAD8789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6197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Evidence: coverage + control</a:t>
            </a:r>
          </a:p>
        </p:txBody>
      </p:sp>
      <p:sp>
        <p:nvSpPr>
          <p:cNvPr id="22" name="roadmap-gate-1">
            <a:extLst xmlns:a="http://schemas.openxmlformats.org/drawingml/2006/main">
              <a:ext uri="{FF2B5EF4-FFF2-40B4-BE49-F238E27FC236}">
                <a16:creationId xmlns:a16="http://schemas.microsoft.com/office/drawing/2014/main" id="{506E9A55-6D6E-47D4-9921-4B977096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95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oadmap-gate-text-1">
            <a:extLst xmlns:a="http://schemas.openxmlformats.org/drawingml/2006/main">
              <a:ext uri="{FF2B5EF4-FFF2-40B4-BE49-F238E27FC236}">
                <a16:creationId xmlns:a16="http://schemas.microsoft.com/office/drawing/2014/main" id="{8E0184A4-E818-482E-B627-C3B2B210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5777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24" name="roadmap-gate-copy-1">
            <a:extLst xmlns:a="http://schemas.openxmlformats.org/drawingml/2006/main">
              <a:ext uri="{FF2B5EF4-FFF2-40B4-BE49-F238E27FC236}">
                <a16:creationId xmlns:a16="http://schemas.microsoft.com/office/drawing/2014/main" id="{47C94250-6A00-411E-8F48-1EC3D08E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197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</a:defRPr>
            </a:pPr>
            <a:r>
              <a:rPr sz="1275" b="1" i="0">
                <a:solidFill>
                  <a:srgbClr val="111827"/>
                </a:solidFill>
              </a:rPr>
              <a:t>Evidence: response + recovery</a:t>
            </a:r>
          </a:p>
        </p:txBody>
      </p:sp>
    </p:spTree>
    <p:extLst>
      <p:ext uri="{BB962C8B-B14F-4D97-AF65-F5344CB8AC3E}">
        <p14:creationId xmlns:p14="http://schemas.microsoft.com/office/powerpoint/2010/main" val="1141552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7">
            <a:extLst xmlns:a="http://schemas.openxmlformats.org/drawingml/2006/main">
              <a:ext uri="{FF2B5EF4-FFF2-40B4-BE49-F238E27FC236}">
                <a16:creationId xmlns:a16="http://schemas.microsoft.com/office/drawing/2014/main" id="{2256C8D7-E518-49F7-BE1F-B219828A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670"/>
                </a:solidFill>
              </a:defRPr>
            </a:pPr>
            <a:r>
              <a:rPr sz="1125" b="1" i="0">
                <a:solidFill>
                  <a:srgbClr val="5F6670"/>
                </a:solidFill>
              </a:rPr>
              <a:t>07 / RISKS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0AB6232-1238-4A20-8B64-E49A637D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</a:defRPr>
            </a:pPr>
            <a:r>
              <a:rPr sz="3600" b="1" i="0">
                <a:solidFill>
                  <a:srgbClr val="111827"/>
                </a:solidFill>
              </a:rPr>
              <a:t>Every risk has an owner and a gate consequence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651FB69D-91B5-4549-81C5-C4D969AD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label-7">
            <a:extLst xmlns:a="http://schemas.openxmlformats.org/drawingml/2006/main">
              <a:ext uri="{FF2B5EF4-FFF2-40B4-BE49-F238E27FC236}">
                <a16:creationId xmlns:a16="http://schemas.microsoft.com/office/drawing/2014/main" id="{98393FF0-CEE5-4A6B-A6EB-BFC0C925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Illustrative planning scenario — not a forecast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AB946F99-2B6C-43C0-BE23-2B7DA995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07</a:t>
            </a:r>
          </a:p>
        </p:txBody>
      </p:sp>
      <p:sp>
        <p:nvSpPr>
          <p:cNvPr id="6" name="risk-header-RISK">
            <a:extLst xmlns:a="http://schemas.openxmlformats.org/drawingml/2006/main">
              <a:ext uri="{FF2B5EF4-FFF2-40B4-BE49-F238E27FC236}">
                <a16:creationId xmlns:a16="http://schemas.microsoft.com/office/drawing/2014/main" id="{F14ABB34-515C-4453-9AE0-C3866BC4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23A"/>
                </a:solidFill>
              </a:defRPr>
            </a:pPr>
            <a:r>
              <a:rPr sz="1200" b="1" i="0">
                <a:solidFill>
                  <a:srgbClr val="B6423A"/>
                </a:solidFill>
              </a:rPr>
              <a:t>RISK</a:t>
            </a:r>
          </a:p>
        </p:txBody>
      </p:sp>
      <p:sp>
        <p:nvSpPr>
          <p:cNvPr id="7" name="risk-header-MITIGATION">
            <a:extLst xmlns:a="http://schemas.openxmlformats.org/drawingml/2006/main">
              <a:ext uri="{FF2B5EF4-FFF2-40B4-BE49-F238E27FC236}">
                <a16:creationId xmlns:a16="http://schemas.microsoft.com/office/drawing/2014/main" id="{362AE630-44C4-4E91-B0C3-59EA9B3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7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23A"/>
                </a:solidFill>
              </a:defRPr>
            </a:pPr>
            <a:r>
              <a:rPr sz="1200" b="1" i="0">
                <a:solidFill>
                  <a:srgbClr val="B6423A"/>
                </a:solidFill>
              </a:rPr>
              <a:t>MITIGATION</a:t>
            </a:r>
          </a:p>
        </p:txBody>
      </p:sp>
      <p:sp>
        <p:nvSpPr>
          <p:cNvPr id="8" name="risk-header-OWNER / GATE">
            <a:extLst xmlns:a="http://schemas.openxmlformats.org/drawingml/2006/main">
              <a:ext uri="{FF2B5EF4-FFF2-40B4-BE49-F238E27FC236}">
                <a16:creationId xmlns:a16="http://schemas.microsoft.com/office/drawing/2014/main" id="{D81AF38B-352D-4BA6-87D4-9616FC93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23A"/>
                </a:solidFill>
              </a:defRPr>
            </a:pPr>
            <a:r>
              <a:rPr sz="1200" b="1" i="0">
                <a:solidFill>
                  <a:srgbClr val="B6423A"/>
                </a:solidFill>
              </a:rPr>
              <a:t>OWNER / GATE</a:t>
            </a:r>
          </a:p>
        </p:txBody>
      </p:sp>
      <p:sp>
        <p:nvSpPr>
          <p:cNvPr id="9" name="risk-row-rule-0">
            <a:extLst xmlns:a="http://schemas.openxmlformats.org/drawingml/2006/main">
              <a:ext uri="{FF2B5EF4-FFF2-40B4-BE49-F238E27FC236}">
                <a16:creationId xmlns:a16="http://schemas.microsoft.com/office/drawing/2014/main" id="{6C161CF8-636F-4C37-B461-BCA4DF05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isk-0">
            <a:extLst xmlns:a="http://schemas.openxmlformats.org/drawingml/2006/main">
              <a:ext uri="{FF2B5EF4-FFF2-40B4-BE49-F238E27FC236}">
                <a16:creationId xmlns:a16="http://schemas.microsoft.com/office/drawing/2014/main" id="{EE3CE4BB-C02E-4956-B9ED-3F12D1DF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Data coverage stalls</a:t>
            </a:r>
          </a:p>
        </p:txBody>
      </p:sp>
      <p:sp>
        <p:nvSpPr>
          <p:cNvPr id="11" name="mitigation-0">
            <a:extLst xmlns:a="http://schemas.openxmlformats.org/drawingml/2006/main">
              <a:ext uri="{FF2B5EF4-FFF2-40B4-BE49-F238E27FC236}">
                <a16:creationId xmlns:a16="http://schemas.microsoft.com/office/drawing/2014/main" id="{43710DD5-1CE3-4198-B5B2-47E3D090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</a:defRPr>
            </a:pPr>
            <a:r>
              <a:rPr sz="1425" b="0" i="0">
                <a:solidFill>
                  <a:srgbClr val="5F6670"/>
                </a:solidFill>
              </a:rPr>
              <a:t>Prioritize critical observability; defer low-value scope</a:t>
            </a:r>
          </a:p>
        </p:txBody>
      </p:sp>
      <p:sp>
        <p:nvSpPr>
          <p:cNvPr id="12" name="owner-0">
            <a:extLst xmlns:a="http://schemas.openxmlformats.org/drawingml/2006/main">
              <a:ext uri="{FF2B5EF4-FFF2-40B4-BE49-F238E27FC236}">
                <a16:creationId xmlns:a16="http://schemas.microsoft.com/office/drawing/2014/main" id="{BF4E034D-1542-45D9-8308-FA25D32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Grid planning / G1</a:t>
            </a:r>
          </a:p>
        </p:txBody>
      </p:sp>
      <p:sp>
        <p:nvSpPr>
          <p:cNvPr id="13" name="risk-row-rule-1">
            <a:extLst xmlns:a="http://schemas.openxmlformats.org/drawingml/2006/main">
              <a:ext uri="{FF2B5EF4-FFF2-40B4-BE49-F238E27FC236}">
                <a16:creationId xmlns:a16="http://schemas.microsoft.com/office/drawing/2014/main" id="{E085F266-85FB-48CD-8B50-6FD398F5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isk-1">
            <a:extLst xmlns:a="http://schemas.openxmlformats.org/drawingml/2006/main">
              <a:ext uri="{FF2B5EF4-FFF2-40B4-BE49-F238E27FC236}">
                <a16:creationId xmlns:a16="http://schemas.microsoft.com/office/drawing/2014/main" id="{49DDF3C9-47A9-45D7-AC00-12471D20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Flexible capacity under-delivers</a:t>
            </a:r>
          </a:p>
        </p:txBody>
      </p:sp>
      <p:sp>
        <p:nvSpPr>
          <p:cNvPr id="15" name="mitigation-1">
            <a:extLst xmlns:a="http://schemas.openxmlformats.org/drawingml/2006/main">
              <a:ext uri="{FF2B5EF4-FFF2-40B4-BE49-F238E27FC236}">
                <a16:creationId xmlns:a16="http://schemas.microsoft.com/office/drawing/2014/main" id="{5B6EA43C-DAC9-4507-8B5D-11603FEA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528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</a:defRPr>
            </a:pPr>
            <a:r>
              <a:rPr sz="1425" b="0" i="0">
                <a:solidFill>
                  <a:srgbClr val="5F6670"/>
                </a:solidFill>
              </a:rPr>
              <a:t>Scale only after measured response and dispatchability</a:t>
            </a:r>
          </a:p>
        </p:txBody>
      </p:sp>
      <p:sp>
        <p:nvSpPr>
          <p:cNvPr id="16" name="owner-1">
            <a:extLst xmlns:a="http://schemas.openxmlformats.org/drawingml/2006/main">
              <a:ext uri="{FF2B5EF4-FFF2-40B4-BE49-F238E27FC236}">
                <a16:creationId xmlns:a16="http://schemas.microsoft.com/office/drawing/2014/main" id="{746145B3-2E23-4C49-8D69-FF120381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Operations / G2</a:t>
            </a:r>
          </a:p>
        </p:txBody>
      </p:sp>
      <p:sp>
        <p:nvSpPr>
          <p:cNvPr id="17" name="risk-row-rule-2">
            <a:extLst xmlns:a="http://schemas.openxmlformats.org/drawingml/2006/main">
              <a:ext uri="{FF2B5EF4-FFF2-40B4-BE49-F238E27FC236}">
                <a16:creationId xmlns:a16="http://schemas.microsoft.com/office/drawing/2014/main" id="{9D5BD693-8900-4F7C-B2FA-BFCEC291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isk-2">
            <a:extLst xmlns:a="http://schemas.openxmlformats.org/drawingml/2006/main">
              <a:ext uri="{FF2B5EF4-FFF2-40B4-BE49-F238E27FC236}">
                <a16:creationId xmlns:a16="http://schemas.microsoft.com/office/drawing/2014/main" id="{C1384EEA-A79A-4A71-ACF7-8753E520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Delivery capacity fragments</a:t>
            </a:r>
          </a:p>
        </p:txBody>
      </p:sp>
      <p:sp>
        <p:nvSpPr>
          <p:cNvPr id="19" name="mitigation-2">
            <a:extLst xmlns:a="http://schemas.openxmlformats.org/drawingml/2006/main">
              <a:ext uri="{FF2B5EF4-FFF2-40B4-BE49-F238E27FC236}">
                <a16:creationId xmlns:a16="http://schemas.microsoft.com/office/drawing/2014/main" id="{9D303B41-1814-431D-ABCE-004CEF1E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</a:defRPr>
            </a:pPr>
            <a:r>
              <a:rPr sz="1425" b="0" i="0">
                <a:solidFill>
                  <a:srgbClr val="5F6670"/>
                </a:solidFill>
              </a:rPr>
              <a:t>Single portfolio cadence, dependency map, and escalation owner</a:t>
            </a:r>
          </a:p>
        </p:txBody>
      </p:sp>
      <p:sp>
        <p:nvSpPr>
          <p:cNvPr id="20" name="owner-2">
            <a:extLst xmlns:a="http://schemas.openxmlformats.org/drawingml/2006/main">
              <a:ext uri="{FF2B5EF4-FFF2-40B4-BE49-F238E27FC236}">
                <a16:creationId xmlns:a16="http://schemas.microsoft.com/office/drawing/2014/main" id="{C4EB9EB6-CF71-4B79-9938-124249DF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Sponsor / monthly</a:t>
            </a:r>
          </a:p>
        </p:txBody>
      </p:sp>
      <p:sp>
        <p:nvSpPr>
          <p:cNvPr id="21" name="risk-row-rule-3">
            <a:extLst xmlns:a="http://schemas.openxmlformats.org/drawingml/2006/main">
              <a:ext uri="{FF2B5EF4-FFF2-40B4-BE49-F238E27FC236}">
                <a16:creationId xmlns:a16="http://schemas.microsoft.com/office/drawing/2014/main" id="{51385CB8-8FB1-499D-8174-0807E900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isk-3">
            <a:extLst xmlns:a="http://schemas.openxmlformats.org/drawingml/2006/main">
              <a:ext uri="{FF2B5EF4-FFF2-40B4-BE49-F238E27FC236}">
                <a16:creationId xmlns:a16="http://schemas.microsoft.com/office/drawing/2014/main" id="{676A0300-B23C-4836-AE24-3A2E62F1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Hardening outruns evidence</a:t>
            </a:r>
          </a:p>
        </p:txBody>
      </p:sp>
      <p:sp>
        <p:nvSpPr>
          <p:cNvPr id="23" name="mitigation-3">
            <a:extLst xmlns:a="http://schemas.openxmlformats.org/drawingml/2006/main">
              <a:ext uri="{FF2B5EF4-FFF2-40B4-BE49-F238E27FC236}">
                <a16:creationId xmlns:a16="http://schemas.microsoft.com/office/drawing/2014/main" id="{1BDE9958-B5AF-433B-B5A4-217A93E5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81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</a:defRPr>
            </a:pPr>
            <a:r>
              <a:rPr sz="1425" b="0" i="0">
                <a:solidFill>
                  <a:srgbClr val="5F6670"/>
                </a:solidFill>
              </a:rPr>
              <a:t>Target exposure after visibility and flexibility results are proven</a:t>
            </a:r>
          </a:p>
        </p:txBody>
      </p:sp>
      <p:sp>
        <p:nvSpPr>
          <p:cNvPr id="24" name="owner-3">
            <a:extLst xmlns:a="http://schemas.openxmlformats.org/drawingml/2006/main">
              <a:ext uri="{FF2B5EF4-FFF2-40B4-BE49-F238E27FC236}">
                <a16:creationId xmlns:a16="http://schemas.microsoft.com/office/drawing/2014/main" id="{6BFF8D1D-3D98-4DA6-9DE7-80C81622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006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Risk lead / G2</a:t>
            </a:r>
          </a:p>
        </p:txBody>
      </p:sp>
      <p:sp>
        <p:nvSpPr>
          <p:cNvPr id="25" name="risk-final-rule">
            <a:extLst xmlns:a="http://schemas.openxmlformats.org/drawingml/2006/main">
              <a:ext uri="{FF2B5EF4-FFF2-40B4-BE49-F238E27FC236}">
                <a16:creationId xmlns:a16="http://schemas.microsoft.com/office/drawing/2014/main" id="{5778FA57-3259-4E63-B8FF-B36AE76B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75960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8">
            <a:extLst xmlns:a="http://schemas.openxmlformats.org/drawingml/2006/main">
              <a:ext uri="{FF2B5EF4-FFF2-40B4-BE49-F238E27FC236}">
                <a16:creationId xmlns:a16="http://schemas.microsoft.com/office/drawing/2014/main" id="{CF0C4D3A-BE41-4B98-9AF7-2BA0D7E8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670"/>
                </a:solidFill>
              </a:defRPr>
            </a:pPr>
            <a:r>
              <a:rPr sz="1125" b="1" i="0">
                <a:solidFill>
                  <a:srgbClr val="5F6670"/>
                </a:solidFill>
              </a:rPr>
              <a:t>08 / APPROVAL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0AE27AD-EFE0-4E2F-A1AE-5BC096A9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</a:defRPr>
            </a:pPr>
            <a:r>
              <a:rPr sz="3600" b="1" i="0">
                <a:solidFill>
                  <a:srgbClr val="111827"/>
                </a:solidFill>
              </a:rPr>
              <a:t>Approve the staged portfolio — subject to phase gates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F5D0DE4E-1968-4E61-B763-202361B6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label-8">
            <a:extLst xmlns:a="http://schemas.openxmlformats.org/drawingml/2006/main">
              <a:ext uri="{FF2B5EF4-FFF2-40B4-BE49-F238E27FC236}">
                <a16:creationId xmlns:a16="http://schemas.microsoft.com/office/drawing/2014/main" id="{95131F53-6DD0-4C7B-BE61-861EEBE5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Illustrative planning scenario — not a forecast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716FBB45-0B48-4881-B8FD-E52A6EA7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F6670"/>
                </a:solidFill>
              </a:defRPr>
            </a:pPr>
            <a:r>
              <a:rPr sz="1050" b="1" i="0">
                <a:solidFill>
                  <a:srgbClr val="5F6670"/>
                </a:solidFill>
              </a:rPr>
              <a:t>08</a:t>
            </a:r>
          </a:p>
        </p:txBody>
      </p:sp>
      <p:sp>
        <p:nvSpPr>
          <p:cNvPr id="6" name="approval-ask">
            <a:extLst xmlns:a="http://schemas.openxmlformats.org/drawingml/2006/main">
              <a:ext uri="{FF2B5EF4-FFF2-40B4-BE49-F238E27FC236}">
                <a16:creationId xmlns:a16="http://schemas.microsoft.com/office/drawing/2014/main" id="{AD337F04-2A64-4B39-B148-51992FD7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167A5A"/>
                </a:solidFill>
              </a:defRPr>
            </a:pPr>
            <a:r>
              <a:rPr sz="6150" b="1" i="0">
                <a:solidFill>
                  <a:srgbClr val="167A5A"/>
                </a:solidFill>
              </a:rPr>
              <a:t>APPROVE</a:t>
            </a:r>
          </a:p>
        </p:txBody>
      </p:sp>
      <p:sp>
        <p:nvSpPr>
          <p:cNvPr id="7" name="approval-scope">
            <a:extLst xmlns:a="http://schemas.openxmlformats.org/drawingml/2006/main">
              <a:ext uri="{FF2B5EF4-FFF2-40B4-BE49-F238E27FC236}">
                <a16:creationId xmlns:a16="http://schemas.microsoft.com/office/drawing/2014/main" id="{420C2539-1927-43D8-8D4E-7C496A0A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334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Foundations now.</a:t>
            </a:r>
          </a:p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Scaled flexibility after G1.</a:t>
            </a:r>
          </a:p>
          <a:p xmlns:a="http://schemas.openxmlformats.org/drawingml/2006/main">
            <a:pPr algn="l">
              <a:defRPr sz="2325" b="1" i="0">
                <a:solidFill>
                  <a:srgbClr val="111827"/>
                </a:solidFill>
              </a:defRPr>
            </a:pPr>
            <a:r>
              <a:rPr sz="2325" b="1" i="0">
                <a:solidFill>
                  <a:srgbClr val="111827"/>
                </a:solidFill>
              </a:rPr>
              <a:t>Resilience hardening after G2.</a:t>
            </a:r>
          </a:p>
        </p:txBody>
      </p:sp>
      <p:sp>
        <p:nvSpPr>
          <p:cNvPr id="8" name="approval-conditions-label">
            <a:extLst xmlns:a="http://schemas.openxmlformats.org/drawingml/2006/main">
              <a:ext uri="{FF2B5EF4-FFF2-40B4-BE49-F238E27FC236}">
                <a16:creationId xmlns:a16="http://schemas.microsoft.com/office/drawing/2014/main" id="{C69E2BEE-C935-4264-954C-4D17B610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5A"/>
                </a:solidFill>
              </a:defRPr>
            </a:pPr>
            <a:r>
              <a:rPr sz="1200" b="1" i="0">
                <a:solidFill>
                  <a:srgbClr val="167A5A"/>
                </a:solidFill>
              </a:rPr>
              <a:t>APPROVAL CONDITIONS</a:t>
            </a:r>
          </a:p>
        </p:txBody>
      </p:sp>
      <p:sp>
        <p:nvSpPr>
          <p:cNvPr id="9" name="approval-number-0">
            <a:extLst xmlns:a="http://schemas.openxmlformats.org/drawingml/2006/main">
              <a:ext uri="{FF2B5EF4-FFF2-40B4-BE49-F238E27FC236}">
                <a16:creationId xmlns:a16="http://schemas.microsoft.com/office/drawing/2014/main" id="{704B1C1A-C0BE-4DAA-8476-A00DEDD4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7A5A"/>
                </a:solidFill>
              </a:defRPr>
            </a:pPr>
            <a:r>
              <a:rPr sz="1350" b="1" i="0">
                <a:solidFill>
                  <a:srgbClr val="167A5A"/>
                </a:solidFill>
              </a:rPr>
              <a:t>01</a:t>
            </a:r>
          </a:p>
        </p:txBody>
      </p:sp>
      <p:sp>
        <p:nvSpPr>
          <p:cNvPr id="10" name="approval-condition-0">
            <a:extLst xmlns:a="http://schemas.openxmlformats.org/drawingml/2006/main">
              <a:ext uri="{FF2B5EF4-FFF2-40B4-BE49-F238E27FC236}">
                <a16:creationId xmlns:a16="http://schemas.microsoft.com/office/drawing/2014/main" id="{0041AADD-CA13-433B-A6C6-F3211D01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81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Named sponsor and workstream owners</a:t>
            </a:r>
          </a:p>
        </p:txBody>
      </p:sp>
      <p:sp>
        <p:nvSpPr>
          <p:cNvPr id="11" name="approval-number-1">
            <a:extLst xmlns:a="http://schemas.openxmlformats.org/drawingml/2006/main">
              <a:ext uri="{FF2B5EF4-FFF2-40B4-BE49-F238E27FC236}">
                <a16:creationId xmlns:a16="http://schemas.microsoft.com/office/drawing/2014/main" id="{0A6939F5-CD59-42DB-B447-64699250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7A5A"/>
                </a:solidFill>
              </a:defRPr>
            </a:pPr>
            <a:r>
              <a:rPr sz="1350" b="1" i="0">
                <a:solidFill>
                  <a:srgbClr val="167A5A"/>
                </a:solidFill>
              </a:rPr>
              <a:t>02</a:t>
            </a:r>
          </a:p>
        </p:txBody>
      </p:sp>
      <p:sp>
        <p:nvSpPr>
          <p:cNvPr id="12" name="approval-condition-1">
            <a:extLst xmlns:a="http://schemas.openxmlformats.org/drawingml/2006/main">
              <a:ext uri="{FF2B5EF4-FFF2-40B4-BE49-F238E27FC236}">
                <a16:creationId xmlns:a16="http://schemas.microsoft.com/office/drawing/2014/main" id="{12035869-3945-4998-9176-A3D3ED99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Gate criteria baselined before release</a:t>
            </a:r>
          </a:p>
        </p:txBody>
      </p:sp>
      <p:sp>
        <p:nvSpPr>
          <p:cNvPr id="13" name="approval-number-2">
            <a:extLst xmlns:a="http://schemas.openxmlformats.org/drawingml/2006/main">
              <a:ext uri="{FF2B5EF4-FFF2-40B4-BE49-F238E27FC236}">
                <a16:creationId xmlns:a16="http://schemas.microsoft.com/office/drawing/2014/main" id="{B4A5646E-C766-4492-9062-0EA982F4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7A5A"/>
                </a:solidFill>
              </a:defRPr>
            </a:pPr>
            <a:r>
              <a:rPr sz="1350" b="1" i="0">
                <a:solidFill>
                  <a:srgbClr val="167A5A"/>
                </a:solidFill>
              </a:rPr>
              <a:t>03</a:t>
            </a:r>
          </a:p>
        </p:txBody>
      </p:sp>
      <p:sp>
        <p:nvSpPr>
          <p:cNvPr id="14" name="approval-condition-2">
            <a:extLst xmlns:a="http://schemas.openxmlformats.org/drawingml/2006/main">
              <a:ext uri="{FF2B5EF4-FFF2-40B4-BE49-F238E27FC236}">
                <a16:creationId xmlns:a16="http://schemas.microsoft.com/office/drawing/2014/main" id="{F3598925-0064-4292-BF79-BE2692B2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671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Monthly portfolio review starts in 30 days</a:t>
            </a:r>
          </a:p>
        </p:txBody>
      </p:sp>
      <p:sp>
        <p:nvSpPr>
          <p:cNvPr id="15" name="approval-next-rule">
            <a:extLst xmlns:a="http://schemas.openxmlformats.org/drawingml/2006/main">
              <a:ext uri="{FF2B5EF4-FFF2-40B4-BE49-F238E27FC236}">
                <a16:creationId xmlns:a16="http://schemas.microsoft.com/office/drawing/2014/main" id="{51E241C4-150A-4A42-88C9-A3AECE7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pproval-next-label">
            <a:extLst xmlns:a="http://schemas.openxmlformats.org/drawingml/2006/main">
              <a:ext uri="{FF2B5EF4-FFF2-40B4-BE49-F238E27FC236}">
                <a16:creationId xmlns:a16="http://schemas.microsoft.com/office/drawing/2014/main" id="{03172DF3-1702-488C-84F2-F3F2BCB8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670"/>
                </a:solidFill>
              </a:defRPr>
            </a:pPr>
            <a:r>
              <a:rPr sz="1200" b="1" i="0">
                <a:solidFill>
                  <a:srgbClr val="5F6670"/>
                </a:solidFill>
              </a:rPr>
              <a:t>NEXT 30 DAYS</a:t>
            </a:r>
          </a:p>
        </p:txBody>
      </p:sp>
      <p:sp>
        <p:nvSpPr>
          <p:cNvPr id="17" name="approval-next">
            <a:extLst xmlns:a="http://schemas.openxmlformats.org/drawingml/2006/main">
              <a:ext uri="{FF2B5EF4-FFF2-40B4-BE49-F238E27FC236}">
                <a16:creationId xmlns:a16="http://schemas.microsoft.com/office/drawing/2014/main" id="{64F80051-04A1-49D9-9873-094F171A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530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Baseline G1 evidence · confirm owners · launch foundations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7729e86aa4660"/>
          <a:stretch xmlns:a="http://schemas.openxmlformats.org/drawingml/2006/main"/>
        </p:blipFill>
        <p:spPr>
          <a:xfrm xmlns:a="http://schemas.openxmlformats.org/drawingml/2006/main">
            <a:off x="4762500" y="4267200"/>
            <a:ext cx="2095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43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2026-08-31T14:58:34.0520000Z</dcterms:created>
  <dcterms:modified xsi:type="dcterms:W3CDTF">2026-08-31T14:58:34.0520000Z</dcterms:modified>
</coreProperties>
</file>